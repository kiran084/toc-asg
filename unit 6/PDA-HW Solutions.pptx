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1" r:id="rId5"/>
    <p:sldId id="282" r:id="rId6"/>
    <p:sldId id="283" r:id="rId7"/>
    <p:sldId id="284" r:id="rId8"/>
    <p:sldId id="285" r:id="rId9"/>
    <p:sldId id="28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3654-A4E8-45A1-892F-60C98869F8A0}" type="datetimeFigureOut">
              <a:rPr lang="en-GB" smtClean="0"/>
              <a:t>21/03/2022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8279-2058-42C2-AA4F-C43FE76DB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7056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3654-A4E8-45A1-892F-60C98869F8A0}" type="datetimeFigureOut">
              <a:rPr lang="en-GB" smtClean="0"/>
              <a:t>21/03/2022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8279-2058-42C2-AA4F-C43FE76DB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1383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3654-A4E8-45A1-892F-60C98869F8A0}" type="datetimeFigureOut">
              <a:rPr lang="en-GB" smtClean="0"/>
              <a:t>21/03/2022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8279-2058-42C2-AA4F-C43FE76DB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5086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3654-A4E8-45A1-892F-60C98869F8A0}" type="datetimeFigureOut">
              <a:rPr lang="en-GB" smtClean="0"/>
              <a:t>21/03/2022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8279-2058-42C2-AA4F-C43FE76DB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2550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3654-A4E8-45A1-892F-60C98869F8A0}" type="datetimeFigureOut">
              <a:rPr lang="en-GB" smtClean="0"/>
              <a:t>21/03/2022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8279-2058-42C2-AA4F-C43FE76DB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8918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3654-A4E8-45A1-892F-60C98869F8A0}" type="datetimeFigureOut">
              <a:rPr lang="en-GB" smtClean="0"/>
              <a:t>21/03/2022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8279-2058-42C2-AA4F-C43FE76DB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755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3654-A4E8-45A1-892F-60C98869F8A0}" type="datetimeFigureOut">
              <a:rPr lang="en-GB" smtClean="0"/>
              <a:t>21/03/2022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8279-2058-42C2-AA4F-C43FE76DB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615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3654-A4E8-45A1-892F-60C98869F8A0}" type="datetimeFigureOut">
              <a:rPr lang="en-GB" smtClean="0"/>
              <a:t>21/03/2022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8279-2058-42C2-AA4F-C43FE76DB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921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3654-A4E8-45A1-892F-60C98869F8A0}" type="datetimeFigureOut">
              <a:rPr lang="en-GB" smtClean="0"/>
              <a:t>21/03/2022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8279-2058-42C2-AA4F-C43FE76DB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820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3654-A4E8-45A1-892F-60C98869F8A0}" type="datetimeFigureOut">
              <a:rPr lang="en-GB" smtClean="0"/>
              <a:t>21/03/2022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8279-2058-42C2-AA4F-C43FE76DB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040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3654-A4E8-45A1-892F-60C98869F8A0}" type="datetimeFigureOut">
              <a:rPr lang="en-GB" smtClean="0"/>
              <a:t>21/03/2022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8279-2058-42C2-AA4F-C43FE76DB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7266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43654-A4E8-45A1-892F-60C98869F8A0}" type="datetimeFigureOut">
              <a:rPr lang="en-GB" smtClean="0"/>
              <a:t>21/03/2022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88279-2058-42C2-AA4F-C43FE76DB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1769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6653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8051" y="311998"/>
            <a:ext cx="5191125" cy="17240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51" y="2242317"/>
            <a:ext cx="541972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750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291" y="258599"/>
            <a:ext cx="5619750" cy="1676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91" y="3064094"/>
            <a:ext cx="5324475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175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"/>
            <a:ext cx="10639097" cy="1818290"/>
          </a:xfrm>
        </p:spPr>
        <p:txBody>
          <a:bodyPr/>
          <a:lstStyle/>
          <a:p>
            <a:r>
              <a:rPr lang="en-GB" dirty="0" smtClean="0"/>
              <a:t>Acceptance by Final state example 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5999" y="1185863"/>
            <a:ext cx="5591175" cy="504825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756745" y="1481959"/>
            <a:ext cx="10857186" cy="508700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Design a PDA </a:t>
            </a: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For the  above language by final state</a:t>
            </a:r>
          </a:p>
          <a:p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 [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Note: Design strategy is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all ‘a’ s will be pushed in the stack, 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all ‘b’ s will be rejected PDA will change the state to remember b is encountered and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when </a:t>
            </a:r>
            <a:r>
              <a:rPr lang="en-US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trailing </a:t>
            </a:r>
            <a:r>
              <a:rPr lang="en-US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‘a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’ is encountered in the input </a:t>
            </a:r>
            <a:r>
              <a:rPr lang="en-US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pushed(leading) 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‘a’s  will be popped from the </a:t>
            </a:r>
            <a:r>
              <a:rPr lang="en-US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stack and </a:t>
            </a:r>
            <a:r>
              <a:rPr lang="en-US" altLang="en-US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PDA will change the state also</a:t>
            </a:r>
            <a:r>
              <a:rPr lang="en-US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]</a:t>
            </a:r>
            <a:endParaRPr lang="en-GB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i="1" dirty="0" smtClean="0"/>
              <a:t>A </a:t>
            </a:r>
            <a:r>
              <a:rPr lang="en-GB" dirty="0" smtClean="0"/>
              <a:t>= ({</a:t>
            </a:r>
            <a:r>
              <a:rPr lang="en-GB" dirty="0" err="1" smtClean="0"/>
              <a:t>qo</a:t>
            </a:r>
            <a:r>
              <a:rPr lang="en-GB" dirty="0" smtClean="0"/>
              <a:t>, q1,q2 </a:t>
            </a:r>
            <a:r>
              <a:rPr lang="en-GB" i="1" dirty="0" err="1" smtClean="0"/>
              <a:t>qf</a:t>
            </a:r>
            <a:r>
              <a:rPr lang="en-GB" i="1" dirty="0" smtClean="0"/>
              <a:t>}, {a, b</a:t>
            </a:r>
            <a:r>
              <a:rPr lang="en-GB" dirty="0" smtClean="0"/>
              <a:t>}, </a:t>
            </a:r>
            <a:r>
              <a:rPr lang="en-GB" i="1" dirty="0" smtClean="0"/>
              <a:t>{a,  </a:t>
            </a:r>
            <a:r>
              <a:rPr lang="en-GB" dirty="0" smtClean="0"/>
              <a:t>zo}, </a:t>
            </a:r>
            <a:r>
              <a:rPr lang="el-GR" dirty="0" smtClean="0"/>
              <a:t>δ</a:t>
            </a:r>
            <a:r>
              <a:rPr lang="en-GB" dirty="0" smtClean="0"/>
              <a:t>, </a:t>
            </a:r>
            <a:r>
              <a:rPr lang="en-GB" dirty="0" err="1" smtClean="0"/>
              <a:t>qo</a:t>
            </a:r>
            <a:r>
              <a:rPr lang="en-GB" dirty="0" smtClean="0"/>
              <a:t>, Zo, </a:t>
            </a:r>
            <a:r>
              <a:rPr lang="en-GB" i="1" dirty="0" smtClean="0"/>
              <a:t>{</a:t>
            </a:r>
            <a:r>
              <a:rPr lang="en-GB" i="1" dirty="0" err="1" smtClean="0"/>
              <a:t>qf</a:t>
            </a:r>
            <a:r>
              <a:rPr lang="en-GB" i="1" dirty="0" smtClean="0"/>
              <a:t>}) where </a:t>
            </a:r>
            <a:r>
              <a:rPr lang="el-GR" dirty="0" smtClean="0"/>
              <a:t>δ</a:t>
            </a:r>
            <a:r>
              <a:rPr lang="en-GB" dirty="0" smtClean="0"/>
              <a:t> is given below</a:t>
            </a:r>
            <a:endParaRPr lang="en-GB" i="1" dirty="0" smtClean="0"/>
          </a:p>
          <a:p>
            <a:r>
              <a:rPr lang="el-GR" dirty="0" smtClean="0"/>
              <a:t>δ(</a:t>
            </a:r>
            <a:r>
              <a:rPr lang="en-GB" dirty="0" smtClean="0"/>
              <a:t>q0, a, Z0) = {(q0, aZ0)}.[</a:t>
            </a:r>
            <a:r>
              <a:rPr lang="en-GB" dirty="0" smtClean="0">
                <a:solidFill>
                  <a:srgbClr val="FF0000"/>
                </a:solidFill>
              </a:rPr>
              <a:t>first ‘a’ is pushed in the stack</a:t>
            </a:r>
            <a:r>
              <a:rPr lang="en-GB" dirty="0" smtClean="0"/>
              <a:t>]</a:t>
            </a:r>
          </a:p>
          <a:p>
            <a:r>
              <a:rPr lang="en-GB" dirty="0" smtClean="0"/>
              <a:t> </a:t>
            </a:r>
            <a:r>
              <a:rPr lang="el-GR" dirty="0" smtClean="0"/>
              <a:t>δ(</a:t>
            </a:r>
            <a:r>
              <a:rPr lang="en-GB" dirty="0" smtClean="0"/>
              <a:t>q0, a, a) = {(q0, aa)}. [</a:t>
            </a:r>
            <a:r>
              <a:rPr lang="en-GB" dirty="0" smtClean="0">
                <a:solidFill>
                  <a:srgbClr val="FF0000"/>
                </a:solidFill>
              </a:rPr>
              <a:t>Subsequent a’s pushed in the stack</a:t>
            </a:r>
            <a:r>
              <a:rPr lang="en-GB" dirty="0" smtClean="0"/>
              <a:t>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/>
              <a:t>[</a:t>
            </a:r>
            <a:r>
              <a:rPr lang="en-GB" dirty="0" smtClean="0">
                <a:solidFill>
                  <a:srgbClr val="FF0000"/>
                </a:solidFill>
              </a:rPr>
              <a:t>Above 2 rules  will be used for pushing all ‘a’ s in the stack]</a:t>
            </a:r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0467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62"/>
    </mc:Choice>
    <mc:Fallback xmlns="">
      <p:transition spd="slow" advTm="13862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2034"/>
          </a:xfrm>
        </p:spPr>
        <p:txBody>
          <a:bodyPr/>
          <a:lstStyle/>
          <a:p>
            <a:r>
              <a:rPr lang="en-GB" dirty="0"/>
              <a:t>Example </a:t>
            </a:r>
            <a:r>
              <a:rPr lang="en-GB" dirty="0" smtClean="0"/>
              <a:t>PDA Conti…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172" y="1177160"/>
            <a:ext cx="10670628" cy="49998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/>
              <a:t>[</a:t>
            </a:r>
            <a:r>
              <a:rPr lang="en-GB" dirty="0" smtClean="0">
                <a:solidFill>
                  <a:srgbClr val="FF0000"/>
                </a:solidFill>
              </a:rPr>
              <a:t>Following 2 rules  will be used for handling input ‘b’</a:t>
            </a:r>
            <a:r>
              <a:rPr lang="en-GB" dirty="0" smtClean="0"/>
              <a:t>]</a:t>
            </a:r>
            <a:endParaRPr lang="en-GB" dirty="0"/>
          </a:p>
          <a:p>
            <a:r>
              <a:rPr lang="el-GR" dirty="0" smtClean="0"/>
              <a:t>δ(</a:t>
            </a:r>
            <a:r>
              <a:rPr lang="en-GB" dirty="0"/>
              <a:t>q0, </a:t>
            </a:r>
            <a:r>
              <a:rPr lang="en-GB" dirty="0" smtClean="0"/>
              <a:t>b, a) </a:t>
            </a:r>
            <a:r>
              <a:rPr lang="en-GB" dirty="0"/>
              <a:t>= {(q1, </a:t>
            </a:r>
            <a:r>
              <a:rPr lang="en-GB" dirty="0" smtClean="0"/>
              <a:t>a)}</a:t>
            </a:r>
          </a:p>
          <a:p>
            <a:r>
              <a:rPr lang="en-GB" dirty="0"/>
              <a:t> </a:t>
            </a:r>
            <a:r>
              <a:rPr lang="el-GR" dirty="0"/>
              <a:t>δ(</a:t>
            </a:r>
            <a:r>
              <a:rPr lang="en-GB" dirty="0" smtClean="0"/>
              <a:t>q1, b, a) </a:t>
            </a:r>
            <a:r>
              <a:rPr lang="en-GB" dirty="0"/>
              <a:t>= {(q1, a</a:t>
            </a:r>
            <a:r>
              <a:rPr lang="en-GB" dirty="0" smtClean="0"/>
              <a:t>)}</a:t>
            </a:r>
          </a:p>
          <a:p>
            <a:pPr marL="0" indent="0">
              <a:buNone/>
            </a:pPr>
            <a:r>
              <a:rPr lang="el-GR" dirty="0" smtClean="0"/>
              <a:t>δ(</a:t>
            </a:r>
            <a:r>
              <a:rPr lang="en-GB" dirty="0" smtClean="0"/>
              <a:t>q1, </a:t>
            </a:r>
            <a:r>
              <a:rPr lang="en-GB" dirty="0"/>
              <a:t>a, a) = </a:t>
            </a:r>
            <a:r>
              <a:rPr lang="en-GB" dirty="0" smtClean="0"/>
              <a:t>(q1, </a:t>
            </a:r>
            <a:r>
              <a:rPr lang="el-GR" dirty="0"/>
              <a:t>ε</a:t>
            </a:r>
            <a:r>
              <a:rPr lang="en-GB" dirty="0" smtClean="0"/>
              <a:t>) [</a:t>
            </a:r>
            <a:r>
              <a:rPr lang="en-US" dirty="0">
                <a:solidFill>
                  <a:srgbClr val="FF0000"/>
                </a:solidFill>
              </a:rPr>
              <a:t>PDA </a:t>
            </a:r>
            <a:r>
              <a:rPr lang="en-US" dirty="0" smtClean="0">
                <a:solidFill>
                  <a:srgbClr val="FF0000"/>
                </a:solidFill>
              </a:rPr>
              <a:t>erases </a:t>
            </a:r>
            <a:r>
              <a:rPr lang="en-US" dirty="0">
                <a:solidFill>
                  <a:srgbClr val="FF0000"/>
                </a:solidFill>
              </a:rPr>
              <a:t>the topmost symbol if it coincides </a:t>
            </a:r>
            <a:r>
              <a:rPr lang="en-US" dirty="0" smtClean="0">
                <a:solidFill>
                  <a:srgbClr val="FF0000"/>
                </a:solidFill>
              </a:rPr>
              <a:t>with </a:t>
            </a:r>
            <a:r>
              <a:rPr lang="en-GB" dirty="0" smtClean="0">
                <a:solidFill>
                  <a:srgbClr val="FF0000"/>
                </a:solidFill>
              </a:rPr>
              <a:t>the </a:t>
            </a:r>
            <a:r>
              <a:rPr lang="en-GB" dirty="0">
                <a:solidFill>
                  <a:srgbClr val="FF0000"/>
                </a:solidFill>
              </a:rPr>
              <a:t>current input </a:t>
            </a:r>
            <a:r>
              <a:rPr lang="en-GB" dirty="0" smtClean="0">
                <a:solidFill>
                  <a:srgbClr val="FF0000"/>
                </a:solidFill>
              </a:rPr>
              <a:t>symbol</a:t>
            </a:r>
            <a:r>
              <a:rPr lang="en-GB" dirty="0" smtClean="0"/>
              <a:t>]</a:t>
            </a:r>
            <a:endParaRPr lang="en-GB" dirty="0"/>
          </a:p>
          <a:p>
            <a:r>
              <a:rPr lang="el-GR" dirty="0" smtClean="0"/>
              <a:t>δ(</a:t>
            </a:r>
            <a:r>
              <a:rPr lang="en-GB" dirty="0" smtClean="0"/>
              <a:t>q1, </a:t>
            </a:r>
            <a:r>
              <a:rPr lang="el-GR" dirty="0"/>
              <a:t>ε, </a:t>
            </a:r>
            <a:r>
              <a:rPr lang="en-GB" dirty="0"/>
              <a:t>Z0) = {(</a:t>
            </a:r>
            <a:r>
              <a:rPr lang="en-GB" dirty="0" err="1" smtClean="0"/>
              <a:t>qf</a:t>
            </a:r>
            <a:r>
              <a:rPr lang="en-GB" dirty="0" smtClean="0"/>
              <a:t> , </a:t>
            </a:r>
            <a:r>
              <a:rPr lang="en-GB" dirty="0"/>
              <a:t>Z0</a:t>
            </a:r>
            <a:r>
              <a:rPr lang="en-GB" dirty="0" smtClean="0"/>
              <a:t>)}[</a:t>
            </a:r>
            <a:r>
              <a:rPr lang="en-US" dirty="0" smtClean="0">
                <a:solidFill>
                  <a:srgbClr val="FF0000"/>
                </a:solidFill>
              </a:rPr>
              <a:t>PDA reaches </a:t>
            </a:r>
            <a:r>
              <a:rPr lang="en-US" dirty="0">
                <a:solidFill>
                  <a:srgbClr val="FF0000"/>
                </a:solidFill>
              </a:rPr>
              <a:t>the final state </a:t>
            </a:r>
            <a:r>
              <a:rPr lang="en-GB" dirty="0" err="1">
                <a:solidFill>
                  <a:srgbClr val="FF0000"/>
                </a:solidFill>
              </a:rPr>
              <a:t>qf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only when the input string </a:t>
            </a:r>
            <a:r>
              <a:rPr lang="en-US" dirty="0" smtClean="0">
                <a:solidFill>
                  <a:srgbClr val="FF0000"/>
                </a:solidFill>
              </a:rPr>
              <a:t>is exhausted </a:t>
            </a:r>
            <a:r>
              <a:rPr lang="en-US" dirty="0">
                <a:solidFill>
                  <a:srgbClr val="FF0000"/>
                </a:solidFill>
              </a:rPr>
              <a:t>and then the PDS has only </a:t>
            </a:r>
            <a:r>
              <a:rPr lang="en-GB" dirty="0" smtClean="0">
                <a:solidFill>
                  <a:srgbClr val="FF0000"/>
                </a:solidFill>
              </a:rPr>
              <a:t>Z0</a:t>
            </a:r>
            <a:r>
              <a:rPr lang="en-GB" dirty="0" smtClean="0"/>
              <a:t>]</a:t>
            </a:r>
          </a:p>
          <a:p>
            <a:r>
              <a:rPr lang="en-GB" dirty="0" smtClean="0"/>
              <a:t>But  invalid string ‘</a:t>
            </a:r>
            <a:r>
              <a:rPr lang="en-GB" dirty="0" err="1" smtClean="0"/>
              <a:t>aababa</a:t>
            </a:r>
            <a:r>
              <a:rPr lang="en-GB" dirty="0" smtClean="0"/>
              <a:t>’ will be accepted by the PDA.</a:t>
            </a:r>
          </a:p>
          <a:p>
            <a:r>
              <a:rPr lang="en-GB" dirty="0" smtClean="0"/>
              <a:t>So changes have to be done.</a:t>
            </a:r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0708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731"/>
    </mc:Choice>
    <mc:Fallback xmlns="">
      <p:transition spd="slow" advTm="4673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2034"/>
          </a:xfrm>
        </p:spPr>
        <p:txBody>
          <a:bodyPr/>
          <a:lstStyle/>
          <a:p>
            <a:r>
              <a:rPr lang="en-GB" dirty="0" smtClean="0">
                <a:solidFill>
                  <a:srgbClr val="FF0000"/>
                </a:solidFill>
              </a:rPr>
              <a:t>Changes done PDA Conti…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172" y="1177160"/>
            <a:ext cx="10670628" cy="49998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/>
              <a:t>[</a:t>
            </a:r>
            <a:r>
              <a:rPr lang="en-GB" dirty="0" smtClean="0">
                <a:solidFill>
                  <a:srgbClr val="FF0000"/>
                </a:solidFill>
              </a:rPr>
              <a:t>Following 2 rules  will be used for handling input ‘b’</a:t>
            </a:r>
            <a:r>
              <a:rPr lang="en-GB" dirty="0" smtClean="0"/>
              <a:t>]</a:t>
            </a:r>
            <a:endParaRPr lang="en-GB" dirty="0"/>
          </a:p>
          <a:p>
            <a:r>
              <a:rPr lang="el-GR" dirty="0" smtClean="0"/>
              <a:t>δ(</a:t>
            </a:r>
            <a:r>
              <a:rPr lang="en-GB" dirty="0"/>
              <a:t>q0, </a:t>
            </a:r>
            <a:r>
              <a:rPr lang="en-GB" dirty="0" smtClean="0"/>
              <a:t>b, a) </a:t>
            </a:r>
            <a:r>
              <a:rPr lang="en-GB" dirty="0"/>
              <a:t>= {(q1, </a:t>
            </a:r>
            <a:r>
              <a:rPr lang="en-GB" dirty="0" smtClean="0"/>
              <a:t>a)}</a:t>
            </a:r>
          </a:p>
          <a:p>
            <a:r>
              <a:rPr lang="en-GB" dirty="0"/>
              <a:t> </a:t>
            </a:r>
            <a:r>
              <a:rPr lang="el-GR" dirty="0"/>
              <a:t>δ(</a:t>
            </a:r>
            <a:r>
              <a:rPr lang="en-GB" dirty="0" smtClean="0"/>
              <a:t>q1, b, a) </a:t>
            </a:r>
            <a:r>
              <a:rPr lang="en-GB" dirty="0"/>
              <a:t>= {(q1, a</a:t>
            </a:r>
            <a:r>
              <a:rPr lang="en-GB" dirty="0" smtClean="0"/>
              <a:t>)}</a:t>
            </a:r>
          </a:p>
          <a:p>
            <a:pPr marL="0" indent="0">
              <a:buNone/>
            </a:pPr>
            <a:r>
              <a:rPr lang="el-GR" dirty="0" smtClean="0"/>
              <a:t>δ(</a:t>
            </a:r>
            <a:r>
              <a:rPr lang="en-GB" dirty="0" smtClean="0"/>
              <a:t>q1, </a:t>
            </a:r>
            <a:r>
              <a:rPr lang="en-GB" dirty="0"/>
              <a:t>a, a) = </a:t>
            </a:r>
            <a:r>
              <a:rPr lang="en-GB" dirty="0" smtClean="0"/>
              <a:t>(q2, </a:t>
            </a:r>
            <a:r>
              <a:rPr lang="el-GR" dirty="0"/>
              <a:t>ε</a:t>
            </a:r>
            <a:r>
              <a:rPr lang="en-GB" dirty="0" smtClean="0"/>
              <a:t>) [</a:t>
            </a:r>
            <a:r>
              <a:rPr lang="en-US" dirty="0">
                <a:solidFill>
                  <a:srgbClr val="FF0000"/>
                </a:solidFill>
              </a:rPr>
              <a:t>PDA </a:t>
            </a:r>
            <a:r>
              <a:rPr lang="en-US" dirty="0" smtClean="0">
                <a:solidFill>
                  <a:srgbClr val="FF0000"/>
                </a:solidFill>
              </a:rPr>
              <a:t>erases </a:t>
            </a:r>
            <a:r>
              <a:rPr lang="en-US" dirty="0">
                <a:solidFill>
                  <a:srgbClr val="FF0000"/>
                </a:solidFill>
              </a:rPr>
              <a:t>the topmost symbol if it coincides </a:t>
            </a:r>
            <a:r>
              <a:rPr lang="en-US" dirty="0" smtClean="0">
                <a:solidFill>
                  <a:srgbClr val="FF0000"/>
                </a:solidFill>
              </a:rPr>
              <a:t>with </a:t>
            </a:r>
            <a:r>
              <a:rPr lang="en-GB" dirty="0" smtClean="0">
                <a:solidFill>
                  <a:srgbClr val="FF0000"/>
                </a:solidFill>
              </a:rPr>
              <a:t>the </a:t>
            </a:r>
            <a:r>
              <a:rPr lang="en-GB" dirty="0">
                <a:solidFill>
                  <a:srgbClr val="FF0000"/>
                </a:solidFill>
              </a:rPr>
              <a:t>current input </a:t>
            </a:r>
            <a:r>
              <a:rPr lang="en-GB" dirty="0" smtClean="0">
                <a:solidFill>
                  <a:srgbClr val="FF0000"/>
                </a:solidFill>
              </a:rPr>
              <a:t>symbol</a:t>
            </a:r>
            <a:r>
              <a:rPr lang="en-GB" dirty="0" smtClean="0"/>
              <a:t>]</a:t>
            </a:r>
          </a:p>
          <a:p>
            <a:pPr marL="0" indent="0">
              <a:buNone/>
            </a:pPr>
            <a:r>
              <a:rPr lang="el-GR" dirty="0"/>
              <a:t>δ(</a:t>
            </a:r>
            <a:r>
              <a:rPr lang="en-GB" dirty="0" smtClean="0"/>
              <a:t>q2, </a:t>
            </a:r>
            <a:r>
              <a:rPr lang="en-GB" dirty="0"/>
              <a:t>a, a) = (q2, </a:t>
            </a:r>
            <a:r>
              <a:rPr lang="el-GR" dirty="0"/>
              <a:t>ε</a:t>
            </a:r>
            <a:r>
              <a:rPr lang="en-GB" dirty="0"/>
              <a:t>)</a:t>
            </a:r>
            <a:endParaRPr lang="en-GB" dirty="0" smtClean="0"/>
          </a:p>
          <a:p>
            <a:r>
              <a:rPr lang="el-GR" dirty="0" smtClean="0"/>
              <a:t>δ(</a:t>
            </a:r>
            <a:r>
              <a:rPr lang="en-GB" dirty="0" smtClean="0"/>
              <a:t>q2, </a:t>
            </a:r>
            <a:r>
              <a:rPr lang="el-GR" dirty="0"/>
              <a:t>ε, </a:t>
            </a:r>
            <a:r>
              <a:rPr lang="en-GB" dirty="0"/>
              <a:t>Z0) = {(</a:t>
            </a:r>
            <a:r>
              <a:rPr lang="en-GB" dirty="0" err="1" smtClean="0"/>
              <a:t>qf</a:t>
            </a:r>
            <a:r>
              <a:rPr lang="en-GB" dirty="0" smtClean="0"/>
              <a:t> , </a:t>
            </a:r>
            <a:r>
              <a:rPr lang="en-GB" dirty="0"/>
              <a:t>Z0</a:t>
            </a:r>
            <a:r>
              <a:rPr lang="en-GB" dirty="0" smtClean="0"/>
              <a:t>)}[</a:t>
            </a:r>
            <a:r>
              <a:rPr lang="en-US" dirty="0" smtClean="0">
                <a:solidFill>
                  <a:srgbClr val="FF0000"/>
                </a:solidFill>
              </a:rPr>
              <a:t>PDA reaches </a:t>
            </a:r>
            <a:r>
              <a:rPr lang="en-US" dirty="0">
                <a:solidFill>
                  <a:srgbClr val="FF0000"/>
                </a:solidFill>
              </a:rPr>
              <a:t>the final state </a:t>
            </a:r>
            <a:r>
              <a:rPr lang="en-GB" dirty="0" err="1">
                <a:solidFill>
                  <a:srgbClr val="FF0000"/>
                </a:solidFill>
              </a:rPr>
              <a:t>qf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only when the input string </a:t>
            </a:r>
            <a:r>
              <a:rPr lang="en-US" dirty="0" smtClean="0">
                <a:solidFill>
                  <a:srgbClr val="FF0000"/>
                </a:solidFill>
              </a:rPr>
              <a:t>is exhausted </a:t>
            </a:r>
            <a:r>
              <a:rPr lang="en-US" dirty="0">
                <a:solidFill>
                  <a:srgbClr val="FF0000"/>
                </a:solidFill>
              </a:rPr>
              <a:t>and then the PDS has only </a:t>
            </a:r>
            <a:r>
              <a:rPr lang="en-GB" dirty="0" smtClean="0">
                <a:solidFill>
                  <a:srgbClr val="FF0000"/>
                </a:solidFill>
              </a:rPr>
              <a:t>Z0</a:t>
            </a:r>
            <a:r>
              <a:rPr lang="en-GB" dirty="0" smtClean="0"/>
              <a:t>]</a:t>
            </a:r>
          </a:p>
          <a:p>
            <a:r>
              <a:rPr lang="en-GB" dirty="0" smtClean="0"/>
              <a:t>So now  invalid string ‘</a:t>
            </a:r>
            <a:r>
              <a:rPr lang="en-GB" dirty="0" err="1" smtClean="0"/>
              <a:t>aababa</a:t>
            </a:r>
            <a:r>
              <a:rPr lang="en-GB" dirty="0" smtClean="0"/>
              <a:t>’ will  not be accepted by the PDA.</a:t>
            </a:r>
          </a:p>
          <a:p>
            <a:endParaRPr lang="en-GB" dirty="0" smtClean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7395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731"/>
    </mc:Choice>
    <mc:Fallback xmlns="">
      <p:transition spd="slow" advTm="4673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2034"/>
          </a:xfrm>
        </p:spPr>
        <p:txBody>
          <a:bodyPr/>
          <a:lstStyle/>
          <a:p>
            <a:r>
              <a:rPr lang="en-GB" dirty="0"/>
              <a:t>Example </a:t>
            </a:r>
            <a:r>
              <a:rPr lang="en-GB" dirty="0" smtClean="0"/>
              <a:t>PDA Conti…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172" y="1177160"/>
            <a:ext cx="10670628" cy="499980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 smtClean="0"/>
              <a:t>[</a:t>
            </a:r>
            <a:r>
              <a:rPr lang="en-GB" dirty="0" smtClean="0">
                <a:solidFill>
                  <a:srgbClr val="FF0000"/>
                </a:solidFill>
              </a:rPr>
              <a:t>Following 2 rules  will be used for handling input ‘b’</a:t>
            </a:r>
            <a:r>
              <a:rPr lang="en-GB" dirty="0" smtClean="0"/>
              <a:t>]</a:t>
            </a:r>
            <a:endParaRPr lang="en-GB" dirty="0"/>
          </a:p>
          <a:p>
            <a:r>
              <a:rPr lang="el-GR" dirty="0" smtClean="0"/>
              <a:t>δ(</a:t>
            </a:r>
            <a:r>
              <a:rPr lang="en-GB" dirty="0"/>
              <a:t>q0, </a:t>
            </a:r>
            <a:r>
              <a:rPr lang="en-GB" dirty="0" smtClean="0"/>
              <a:t>b, a) </a:t>
            </a:r>
            <a:r>
              <a:rPr lang="en-GB" dirty="0"/>
              <a:t>= {(q1, </a:t>
            </a:r>
            <a:r>
              <a:rPr lang="en-GB" dirty="0" smtClean="0"/>
              <a:t>a)}</a:t>
            </a:r>
          </a:p>
          <a:p>
            <a:r>
              <a:rPr lang="en-GB" dirty="0"/>
              <a:t> </a:t>
            </a:r>
            <a:r>
              <a:rPr lang="el-GR" dirty="0"/>
              <a:t>δ(</a:t>
            </a:r>
            <a:r>
              <a:rPr lang="en-GB" dirty="0" smtClean="0"/>
              <a:t>q1, b, a) </a:t>
            </a:r>
            <a:r>
              <a:rPr lang="en-GB" dirty="0"/>
              <a:t>= {(</a:t>
            </a:r>
            <a:r>
              <a:rPr lang="en-GB" dirty="0" smtClean="0"/>
              <a:t>q1, </a:t>
            </a:r>
            <a:r>
              <a:rPr lang="en-GB" dirty="0"/>
              <a:t>a</a:t>
            </a:r>
            <a:r>
              <a:rPr lang="en-GB" dirty="0" smtClean="0"/>
              <a:t>)}</a:t>
            </a:r>
          </a:p>
          <a:p>
            <a:pPr marL="0" indent="0">
              <a:buNone/>
            </a:pPr>
            <a:r>
              <a:rPr lang="el-GR" dirty="0" smtClean="0"/>
              <a:t>δ(</a:t>
            </a:r>
            <a:r>
              <a:rPr lang="en-GB" dirty="0" smtClean="0"/>
              <a:t>q1, </a:t>
            </a:r>
            <a:r>
              <a:rPr lang="en-GB" dirty="0"/>
              <a:t>a, a) = </a:t>
            </a:r>
            <a:r>
              <a:rPr lang="en-GB" dirty="0" smtClean="0"/>
              <a:t>(q2, </a:t>
            </a:r>
            <a:r>
              <a:rPr lang="el-GR" dirty="0"/>
              <a:t>ε</a:t>
            </a:r>
            <a:r>
              <a:rPr lang="en-GB" dirty="0" smtClean="0"/>
              <a:t>) [</a:t>
            </a:r>
            <a:r>
              <a:rPr lang="en-US" dirty="0">
                <a:solidFill>
                  <a:srgbClr val="FF0000"/>
                </a:solidFill>
              </a:rPr>
              <a:t>PDA </a:t>
            </a:r>
            <a:r>
              <a:rPr lang="en-US" dirty="0" smtClean="0">
                <a:solidFill>
                  <a:srgbClr val="FF0000"/>
                </a:solidFill>
              </a:rPr>
              <a:t>erases </a:t>
            </a:r>
            <a:r>
              <a:rPr lang="en-US" dirty="0">
                <a:solidFill>
                  <a:srgbClr val="FF0000"/>
                </a:solidFill>
              </a:rPr>
              <a:t>the topmost symbol if it coincides </a:t>
            </a:r>
            <a:r>
              <a:rPr lang="en-US" dirty="0" smtClean="0">
                <a:solidFill>
                  <a:srgbClr val="FF0000"/>
                </a:solidFill>
              </a:rPr>
              <a:t>with </a:t>
            </a:r>
            <a:r>
              <a:rPr lang="en-GB" dirty="0" smtClean="0">
                <a:solidFill>
                  <a:srgbClr val="FF0000"/>
                </a:solidFill>
              </a:rPr>
              <a:t>the </a:t>
            </a:r>
            <a:r>
              <a:rPr lang="en-GB" dirty="0">
                <a:solidFill>
                  <a:srgbClr val="FF0000"/>
                </a:solidFill>
              </a:rPr>
              <a:t>current input symbol</a:t>
            </a:r>
            <a:r>
              <a:rPr lang="en-GB" dirty="0" smtClean="0"/>
              <a:t>]</a:t>
            </a:r>
          </a:p>
          <a:p>
            <a:pPr marL="0" indent="0">
              <a:buNone/>
            </a:pPr>
            <a:r>
              <a:rPr lang="el-GR" dirty="0"/>
              <a:t>δ(</a:t>
            </a:r>
            <a:r>
              <a:rPr lang="en-GB" dirty="0" smtClean="0"/>
              <a:t>q2, </a:t>
            </a:r>
            <a:r>
              <a:rPr lang="en-GB" dirty="0"/>
              <a:t>a, a) = (q2, </a:t>
            </a:r>
            <a:r>
              <a:rPr lang="el-GR" dirty="0"/>
              <a:t>ε</a:t>
            </a:r>
            <a:r>
              <a:rPr lang="en-GB" dirty="0"/>
              <a:t>) [</a:t>
            </a:r>
            <a:r>
              <a:rPr lang="en-US" dirty="0">
                <a:solidFill>
                  <a:srgbClr val="FF0000"/>
                </a:solidFill>
              </a:rPr>
              <a:t>PDA erases the topmost symbol if it coincides with </a:t>
            </a:r>
            <a:r>
              <a:rPr lang="en-GB" dirty="0">
                <a:solidFill>
                  <a:srgbClr val="FF0000"/>
                </a:solidFill>
              </a:rPr>
              <a:t>the current input symbol</a:t>
            </a:r>
            <a:r>
              <a:rPr lang="en-GB" dirty="0"/>
              <a:t>]</a:t>
            </a:r>
          </a:p>
          <a:p>
            <a:pPr marL="0" indent="0">
              <a:buNone/>
            </a:pPr>
            <a:endParaRPr lang="en-GB" dirty="0"/>
          </a:p>
          <a:p>
            <a:r>
              <a:rPr lang="el-GR" dirty="0" smtClean="0"/>
              <a:t>δ(</a:t>
            </a:r>
            <a:r>
              <a:rPr lang="en-GB" dirty="0" smtClean="0"/>
              <a:t>q2, </a:t>
            </a:r>
            <a:r>
              <a:rPr lang="el-GR" dirty="0"/>
              <a:t>ε, </a:t>
            </a:r>
            <a:r>
              <a:rPr lang="en-GB" dirty="0"/>
              <a:t>Z0) = {(</a:t>
            </a:r>
            <a:r>
              <a:rPr lang="en-GB" dirty="0" smtClean="0"/>
              <a:t>q2 , </a:t>
            </a:r>
            <a:r>
              <a:rPr lang="el-GR" dirty="0" smtClean="0"/>
              <a:t>ε</a:t>
            </a:r>
            <a:r>
              <a:rPr lang="en-GB" dirty="0" smtClean="0"/>
              <a:t>)}[</a:t>
            </a:r>
            <a:r>
              <a:rPr lang="en-US" dirty="0" smtClean="0">
                <a:solidFill>
                  <a:srgbClr val="FF0000"/>
                </a:solidFill>
              </a:rPr>
              <a:t>when </a:t>
            </a:r>
            <a:r>
              <a:rPr lang="en-US" dirty="0">
                <a:solidFill>
                  <a:srgbClr val="FF0000"/>
                </a:solidFill>
              </a:rPr>
              <a:t>the input string </a:t>
            </a:r>
            <a:r>
              <a:rPr lang="en-US" dirty="0" smtClean="0">
                <a:solidFill>
                  <a:srgbClr val="FF0000"/>
                </a:solidFill>
              </a:rPr>
              <a:t>is exhausted </a:t>
            </a:r>
            <a:r>
              <a:rPr lang="en-US" dirty="0">
                <a:solidFill>
                  <a:srgbClr val="FF0000"/>
                </a:solidFill>
              </a:rPr>
              <a:t>and then the PDS </a:t>
            </a:r>
            <a:r>
              <a:rPr lang="en-GB" dirty="0" smtClean="0">
                <a:solidFill>
                  <a:srgbClr val="FF0000"/>
                </a:solidFill>
              </a:rPr>
              <a:t> also is empty.</a:t>
            </a:r>
            <a:r>
              <a:rPr lang="en-GB" dirty="0" smtClean="0"/>
              <a:t>]</a:t>
            </a:r>
            <a:endParaRPr lang="en-GB" dirty="0"/>
          </a:p>
          <a:p>
            <a:endParaRPr lang="en-GB" dirty="0" smtClean="0"/>
          </a:p>
          <a:p>
            <a:r>
              <a:rPr lang="en-GB" dirty="0" smtClean="0"/>
              <a:t>Invalid string ‘</a:t>
            </a:r>
            <a:r>
              <a:rPr lang="en-GB" dirty="0" err="1" smtClean="0"/>
              <a:t>aababa</a:t>
            </a:r>
            <a:r>
              <a:rPr lang="en-GB" dirty="0" smtClean="0"/>
              <a:t>’ will not be accepted by above PDA.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3020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731"/>
    </mc:Choice>
    <mc:Fallback xmlns="">
      <p:transition spd="slow" advTm="4673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"/>
            <a:ext cx="10639097" cy="1818290"/>
          </a:xfrm>
        </p:spPr>
        <p:txBody>
          <a:bodyPr/>
          <a:lstStyle/>
          <a:p>
            <a:r>
              <a:rPr lang="en-GB" dirty="0" smtClean="0"/>
              <a:t>Acceptance by Final state example </a:t>
            </a: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56745" y="1198179"/>
            <a:ext cx="10857186" cy="537078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 smtClean="0"/>
          </a:p>
          <a:p>
            <a:r>
              <a:rPr lang="en-GB" dirty="0"/>
              <a:t>L={a</a:t>
            </a:r>
            <a:r>
              <a:rPr lang="en-GB" baseline="30000" dirty="0"/>
              <a:t>n</a:t>
            </a:r>
            <a:r>
              <a:rPr lang="en-GB" dirty="0"/>
              <a:t> b </a:t>
            </a:r>
            <a:r>
              <a:rPr lang="en-GB" baseline="30000" dirty="0"/>
              <a:t>m</a:t>
            </a:r>
            <a:r>
              <a:rPr lang="en-GB" dirty="0"/>
              <a:t> c </a:t>
            </a:r>
            <a:r>
              <a:rPr lang="en-GB" baseline="30000" dirty="0"/>
              <a:t>n</a:t>
            </a:r>
            <a:r>
              <a:rPr lang="en-GB" dirty="0"/>
              <a:t>| </a:t>
            </a:r>
            <a:r>
              <a:rPr lang="en-GB" dirty="0" err="1"/>
              <a:t>m,n</a:t>
            </a:r>
            <a:r>
              <a:rPr lang="en-GB" dirty="0"/>
              <a:t>&gt;=1}</a:t>
            </a:r>
          </a:p>
          <a:p>
            <a:endParaRPr lang="en-US" dirty="0"/>
          </a:p>
          <a:p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 [</a:t>
            </a:r>
            <a:r>
              <a:rPr lang="en-US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Note: Design strategy is </a:t>
            </a:r>
          </a:p>
          <a:p>
            <a:r>
              <a:rPr lang="en-US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all ‘a’ s will be pushed in the stack, </a:t>
            </a:r>
          </a:p>
          <a:p>
            <a:r>
              <a:rPr lang="en-US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all ‘b’ s will be rejected PDA will change the state to remember </a:t>
            </a:r>
            <a:r>
              <a:rPr lang="en-US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b from q0 to q1</a:t>
            </a:r>
            <a:endParaRPr lang="en-US" altLang="en-US" dirty="0" smtClean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r>
              <a:rPr lang="en-US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When ‘c’ is encountered and ‘a’s  will be popped from the </a:t>
            </a:r>
            <a:r>
              <a:rPr lang="en-US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stack and </a:t>
            </a:r>
            <a:r>
              <a:rPr lang="en-US" altLang="en-US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PDA will also change the </a:t>
            </a:r>
            <a:r>
              <a:rPr lang="en-US" altLang="en-US" b="1" smtClean="0">
                <a:solidFill>
                  <a:srgbClr val="0070C0"/>
                </a:solidFill>
                <a:cs typeface="Times New Roman" panose="02020603050405020304" pitchFamily="18" charset="0"/>
              </a:rPr>
              <a:t>state from q1 to q2]</a:t>
            </a:r>
            <a:endParaRPr lang="en-GB" b="1" dirty="0" smtClean="0">
              <a:solidFill>
                <a:srgbClr val="0070C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i="1" dirty="0" smtClean="0"/>
              <a:t>A </a:t>
            </a:r>
            <a:r>
              <a:rPr lang="en-GB" dirty="0" smtClean="0"/>
              <a:t>= ({</a:t>
            </a:r>
            <a:r>
              <a:rPr lang="en-GB" dirty="0" err="1" smtClean="0"/>
              <a:t>qo</a:t>
            </a:r>
            <a:r>
              <a:rPr lang="en-GB" dirty="0" smtClean="0"/>
              <a:t>, q1,q2,qf</a:t>
            </a:r>
            <a:r>
              <a:rPr lang="en-GB" i="1" dirty="0" smtClean="0"/>
              <a:t>}, {a, b</a:t>
            </a:r>
            <a:r>
              <a:rPr lang="en-GB" dirty="0" smtClean="0"/>
              <a:t>}, </a:t>
            </a:r>
            <a:r>
              <a:rPr lang="en-GB" i="1" dirty="0" smtClean="0"/>
              <a:t>{a,  </a:t>
            </a:r>
            <a:r>
              <a:rPr lang="en-GB" dirty="0" smtClean="0"/>
              <a:t>zo}, </a:t>
            </a:r>
            <a:r>
              <a:rPr lang="el-GR" dirty="0" smtClean="0"/>
              <a:t>δ</a:t>
            </a:r>
            <a:r>
              <a:rPr lang="en-GB" dirty="0" smtClean="0"/>
              <a:t>, </a:t>
            </a:r>
            <a:r>
              <a:rPr lang="en-GB" dirty="0" err="1" smtClean="0"/>
              <a:t>qo</a:t>
            </a:r>
            <a:r>
              <a:rPr lang="en-GB" dirty="0" smtClean="0"/>
              <a:t>, Zo,{</a:t>
            </a:r>
            <a:r>
              <a:rPr lang="en-GB" dirty="0" err="1" smtClean="0"/>
              <a:t>qf</a:t>
            </a:r>
            <a:r>
              <a:rPr lang="en-GB" dirty="0" smtClean="0"/>
              <a:t>}</a:t>
            </a:r>
            <a:r>
              <a:rPr lang="en-GB" i="1" dirty="0" smtClean="0"/>
              <a:t>) where </a:t>
            </a:r>
            <a:r>
              <a:rPr lang="el-GR" dirty="0" smtClean="0"/>
              <a:t>δ</a:t>
            </a:r>
            <a:r>
              <a:rPr lang="en-GB" dirty="0" smtClean="0"/>
              <a:t> is given below</a:t>
            </a:r>
            <a:endParaRPr lang="en-GB" i="1" dirty="0" smtClean="0"/>
          </a:p>
          <a:p>
            <a:r>
              <a:rPr lang="el-GR" dirty="0" smtClean="0"/>
              <a:t>δ(</a:t>
            </a:r>
            <a:r>
              <a:rPr lang="en-GB" dirty="0" smtClean="0"/>
              <a:t>q0, a, Z0) = {(q0, aZ0)}.[</a:t>
            </a:r>
            <a:r>
              <a:rPr lang="en-GB" dirty="0" smtClean="0">
                <a:solidFill>
                  <a:srgbClr val="FF0000"/>
                </a:solidFill>
              </a:rPr>
              <a:t>first ‘a’ is pushed in the stack</a:t>
            </a:r>
            <a:r>
              <a:rPr lang="en-GB" dirty="0" smtClean="0"/>
              <a:t>]</a:t>
            </a:r>
          </a:p>
          <a:p>
            <a:r>
              <a:rPr lang="en-GB" dirty="0" smtClean="0"/>
              <a:t> </a:t>
            </a:r>
            <a:r>
              <a:rPr lang="el-GR" dirty="0" smtClean="0"/>
              <a:t>δ(</a:t>
            </a:r>
            <a:r>
              <a:rPr lang="en-GB" dirty="0" smtClean="0"/>
              <a:t>q0, a, a) = {(q0, aa)}. [</a:t>
            </a:r>
            <a:r>
              <a:rPr lang="en-GB" dirty="0" smtClean="0">
                <a:solidFill>
                  <a:srgbClr val="FF0000"/>
                </a:solidFill>
              </a:rPr>
              <a:t>Subsequent a’s pushed in the stack</a:t>
            </a:r>
            <a:r>
              <a:rPr lang="en-GB" dirty="0" smtClean="0"/>
              <a:t>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/>
              <a:t>[</a:t>
            </a:r>
            <a:r>
              <a:rPr lang="en-GB" dirty="0" smtClean="0">
                <a:solidFill>
                  <a:srgbClr val="FF0000"/>
                </a:solidFill>
              </a:rPr>
              <a:t>Above 2 rules  will be used for pushing all ‘a’ s in the stack]</a:t>
            </a:r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1563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62"/>
    </mc:Choice>
    <mc:Fallback xmlns="">
      <p:transition spd="slow" advTm="13862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2034"/>
          </a:xfrm>
        </p:spPr>
        <p:txBody>
          <a:bodyPr/>
          <a:lstStyle/>
          <a:p>
            <a:r>
              <a:rPr lang="en-GB" dirty="0"/>
              <a:t>Example </a:t>
            </a:r>
            <a:r>
              <a:rPr lang="en-GB" dirty="0" smtClean="0"/>
              <a:t>PDA Conti…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172" y="1177160"/>
            <a:ext cx="10670628" cy="49998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/>
              <a:t>[</a:t>
            </a:r>
            <a:r>
              <a:rPr lang="en-GB" dirty="0" smtClean="0">
                <a:solidFill>
                  <a:srgbClr val="FF0000"/>
                </a:solidFill>
              </a:rPr>
              <a:t>Following 2 rules  will be used for handling input ‘b’</a:t>
            </a:r>
            <a:r>
              <a:rPr lang="en-GB" dirty="0" smtClean="0"/>
              <a:t>]</a:t>
            </a:r>
            <a:endParaRPr lang="en-GB" dirty="0"/>
          </a:p>
          <a:p>
            <a:r>
              <a:rPr lang="el-GR" dirty="0" smtClean="0"/>
              <a:t>δ(</a:t>
            </a:r>
            <a:r>
              <a:rPr lang="en-GB" dirty="0"/>
              <a:t>q0, </a:t>
            </a:r>
            <a:r>
              <a:rPr lang="en-GB" dirty="0" smtClean="0"/>
              <a:t>b, a) </a:t>
            </a:r>
            <a:r>
              <a:rPr lang="en-GB" dirty="0"/>
              <a:t>= {(q1, </a:t>
            </a:r>
            <a:r>
              <a:rPr lang="en-GB" dirty="0" smtClean="0"/>
              <a:t>a)}</a:t>
            </a:r>
          </a:p>
          <a:p>
            <a:r>
              <a:rPr lang="en-GB" dirty="0"/>
              <a:t> </a:t>
            </a:r>
            <a:r>
              <a:rPr lang="el-GR" dirty="0"/>
              <a:t>δ(</a:t>
            </a:r>
            <a:r>
              <a:rPr lang="en-GB" dirty="0" smtClean="0"/>
              <a:t>q1, b, a) </a:t>
            </a:r>
            <a:r>
              <a:rPr lang="en-GB" dirty="0"/>
              <a:t>= {(q1, a</a:t>
            </a:r>
            <a:r>
              <a:rPr lang="en-GB" dirty="0" smtClean="0"/>
              <a:t>)}</a:t>
            </a:r>
          </a:p>
          <a:p>
            <a:pPr marL="0" indent="0">
              <a:buNone/>
            </a:pPr>
            <a:r>
              <a:rPr lang="el-GR" dirty="0" smtClean="0"/>
              <a:t>δ(</a:t>
            </a:r>
            <a:r>
              <a:rPr lang="en-GB" dirty="0" smtClean="0"/>
              <a:t>q1, </a:t>
            </a:r>
            <a:r>
              <a:rPr lang="en-GB" dirty="0"/>
              <a:t>c</a:t>
            </a:r>
            <a:r>
              <a:rPr lang="en-GB" dirty="0" smtClean="0"/>
              <a:t>, </a:t>
            </a:r>
            <a:r>
              <a:rPr lang="en-GB" dirty="0"/>
              <a:t>a) = </a:t>
            </a:r>
            <a:r>
              <a:rPr lang="en-GB" dirty="0" smtClean="0"/>
              <a:t>(q2, </a:t>
            </a:r>
            <a:r>
              <a:rPr lang="el-GR" dirty="0"/>
              <a:t>ε</a:t>
            </a:r>
            <a:r>
              <a:rPr lang="en-GB" dirty="0" smtClean="0"/>
              <a:t>) [[</a:t>
            </a:r>
            <a:r>
              <a:rPr lang="en-US" dirty="0" smtClean="0">
                <a:solidFill>
                  <a:srgbClr val="FF0000"/>
                </a:solidFill>
              </a:rPr>
              <a:t>PDA erases the topmost symbol ‘a’ with </a:t>
            </a:r>
            <a:r>
              <a:rPr lang="en-GB" dirty="0" smtClean="0">
                <a:solidFill>
                  <a:srgbClr val="FF0000"/>
                </a:solidFill>
              </a:rPr>
              <a:t>the current input symbol ‘c’</a:t>
            </a:r>
            <a:r>
              <a:rPr lang="en-GB" dirty="0" smtClean="0"/>
              <a:t>]</a:t>
            </a:r>
          </a:p>
          <a:p>
            <a:pPr marL="0" indent="0">
              <a:buNone/>
            </a:pPr>
            <a:r>
              <a:rPr lang="el-GR" dirty="0"/>
              <a:t>δ(</a:t>
            </a:r>
            <a:r>
              <a:rPr lang="en-GB" dirty="0" smtClean="0"/>
              <a:t>q2, </a:t>
            </a:r>
            <a:r>
              <a:rPr lang="en-GB" dirty="0"/>
              <a:t>c, a) = (q2, </a:t>
            </a:r>
            <a:r>
              <a:rPr lang="el-GR" dirty="0"/>
              <a:t>ε</a:t>
            </a:r>
            <a:r>
              <a:rPr lang="en-GB" dirty="0"/>
              <a:t>)</a:t>
            </a:r>
            <a:endParaRPr lang="en-GB" dirty="0" smtClean="0"/>
          </a:p>
          <a:p>
            <a:r>
              <a:rPr lang="el-GR" dirty="0" smtClean="0"/>
              <a:t>δ(</a:t>
            </a:r>
            <a:r>
              <a:rPr lang="en-GB" dirty="0" smtClean="0"/>
              <a:t>q2, </a:t>
            </a:r>
            <a:r>
              <a:rPr lang="el-GR" dirty="0"/>
              <a:t>ε, </a:t>
            </a:r>
            <a:r>
              <a:rPr lang="en-GB" dirty="0"/>
              <a:t>Z0) = {(</a:t>
            </a:r>
            <a:r>
              <a:rPr lang="en-GB" dirty="0" err="1" smtClean="0"/>
              <a:t>qf</a:t>
            </a:r>
            <a:r>
              <a:rPr lang="en-GB" dirty="0" smtClean="0"/>
              <a:t> , </a:t>
            </a:r>
            <a:r>
              <a:rPr lang="el-GR" dirty="0" smtClean="0"/>
              <a:t>ε</a:t>
            </a:r>
            <a:r>
              <a:rPr lang="en-GB" dirty="0" smtClean="0"/>
              <a:t>)}[</a:t>
            </a:r>
            <a:r>
              <a:rPr lang="en-US" dirty="0" smtClean="0">
                <a:solidFill>
                  <a:srgbClr val="FF0000"/>
                </a:solidFill>
              </a:rPr>
              <a:t>when </a:t>
            </a:r>
            <a:r>
              <a:rPr lang="en-US" dirty="0">
                <a:solidFill>
                  <a:srgbClr val="FF0000"/>
                </a:solidFill>
              </a:rPr>
              <a:t>the input string </a:t>
            </a:r>
            <a:r>
              <a:rPr lang="en-US" dirty="0" smtClean="0">
                <a:solidFill>
                  <a:srgbClr val="FF0000"/>
                </a:solidFill>
              </a:rPr>
              <a:t>is exhausted </a:t>
            </a:r>
            <a:r>
              <a:rPr lang="en-US" dirty="0">
                <a:solidFill>
                  <a:srgbClr val="FF0000"/>
                </a:solidFill>
              </a:rPr>
              <a:t>and then the PDS </a:t>
            </a:r>
            <a:r>
              <a:rPr lang="en-GB" dirty="0" smtClean="0">
                <a:solidFill>
                  <a:srgbClr val="FF0000"/>
                </a:solidFill>
              </a:rPr>
              <a:t> also is empty.</a:t>
            </a:r>
            <a:r>
              <a:rPr lang="en-GB" dirty="0" smtClean="0"/>
              <a:t>]</a:t>
            </a:r>
          </a:p>
          <a:p>
            <a:r>
              <a:rPr lang="en-GB" dirty="0" smtClean="0"/>
              <a:t>Invalid string ‘</a:t>
            </a:r>
            <a:r>
              <a:rPr lang="en-GB" dirty="0" err="1" smtClean="0"/>
              <a:t>aabcbc</a:t>
            </a:r>
            <a:r>
              <a:rPr lang="en-GB" dirty="0" smtClean="0"/>
              <a:t> will not be accepted.</a:t>
            </a:r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9510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731"/>
    </mc:Choice>
    <mc:Fallback xmlns="">
      <p:transition spd="slow" advTm="46731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1454</TotalTime>
  <Words>877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Acceptance by Final state example </vt:lpstr>
      <vt:lpstr>Example PDA Conti…</vt:lpstr>
      <vt:lpstr>Changes done PDA Conti…</vt:lpstr>
      <vt:lpstr>Example PDA Conti…</vt:lpstr>
      <vt:lpstr>Acceptance by Final state example </vt:lpstr>
      <vt:lpstr>Example PDA Conti…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Shweta</dc:creator>
  <cp:lastModifiedBy>Shweta</cp:lastModifiedBy>
  <cp:revision>34</cp:revision>
  <dcterms:created xsi:type="dcterms:W3CDTF">2020-04-02T04:28:21Z</dcterms:created>
  <dcterms:modified xsi:type="dcterms:W3CDTF">2022-03-21T09:06:15Z</dcterms:modified>
</cp:coreProperties>
</file>