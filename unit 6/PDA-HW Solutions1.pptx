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1" r:id="rId5"/>
    <p:sldId id="282" r:id="rId6"/>
    <p:sldId id="287" r:id="rId7"/>
    <p:sldId id="283" r:id="rId8"/>
    <p:sldId id="284" r:id="rId9"/>
    <p:sldId id="285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05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38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08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5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91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5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61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92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2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04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26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3654-A4E8-45A1-892F-60C98869F8A0}" type="datetimeFigureOut">
              <a:rPr lang="en-GB" smtClean="0"/>
              <a:t>23/03/2022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76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65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051" y="311998"/>
            <a:ext cx="5191125" cy="1724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51" y="2242317"/>
            <a:ext cx="5419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91" y="258599"/>
            <a:ext cx="5619750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1" y="3064094"/>
            <a:ext cx="53244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7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639097" cy="1818290"/>
          </a:xfrm>
        </p:spPr>
        <p:txBody>
          <a:bodyPr/>
          <a:lstStyle/>
          <a:p>
            <a:r>
              <a:rPr lang="en-GB" dirty="0" smtClean="0"/>
              <a:t>Acceptance by Final state example 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999" y="1185863"/>
            <a:ext cx="5591175" cy="5048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56745" y="1481959"/>
            <a:ext cx="10857186" cy="50870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Design a PDA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For the  above language by final state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all ‘a’ s will be pushed in the stack, 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all ‘b’ s will be rejected PDA will change the state to remember b is encountered and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when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trailing ‘a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’ is encountered in the input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pushed(leading)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‘a’s  will be popped from the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stack and </a:t>
            </a:r>
            <a:r>
              <a:rPr lang="en-US" altLang="en-US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PDA will change the state also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]</a:t>
            </a:r>
            <a:endParaRPr lang="en-GB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smtClean="0"/>
              <a:t>A </a:t>
            </a:r>
            <a:r>
              <a:rPr lang="en-GB" dirty="0" smtClean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q1,q2 </a:t>
            </a:r>
            <a:r>
              <a:rPr lang="en-GB" i="1" dirty="0" err="1" smtClean="0"/>
              <a:t>qf</a:t>
            </a:r>
            <a:r>
              <a:rPr lang="en-GB" i="1" dirty="0" smtClean="0"/>
              <a:t>}, {a, b</a:t>
            </a:r>
            <a:r>
              <a:rPr lang="en-GB" dirty="0" smtClean="0"/>
              <a:t>}, </a:t>
            </a:r>
            <a:r>
              <a:rPr lang="en-GB" i="1" dirty="0" smtClean="0"/>
              <a:t>{a,  </a:t>
            </a:r>
            <a:r>
              <a:rPr lang="en-GB" dirty="0" smtClean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 smtClean="0"/>
              <a:t>, Zo, </a:t>
            </a:r>
            <a:r>
              <a:rPr lang="en-GB" i="1" dirty="0" smtClean="0"/>
              <a:t>{</a:t>
            </a:r>
            <a:r>
              <a:rPr lang="en-GB" i="1" dirty="0" err="1" smtClean="0"/>
              <a:t>qf</a:t>
            </a:r>
            <a:r>
              <a:rPr lang="en-GB" i="1" dirty="0" smtClean="0"/>
              <a:t>})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2 rules  will be used for pushing all ‘a’ s in the stack]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46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62"/>
    </mc:Choice>
    <mc:Fallback xmlns="">
      <p:transition spd="slow" advTm="1386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(q1,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</a:t>
            </a:r>
            <a:r>
              <a:rPr lang="en-GB" dirty="0" smtClean="0">
                <a:solidFill>
                  <a:srgbClr val="FF0000"/>
                </a:solidFill>
              </a:rPr>
              <a:t>symbol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n-GB" dirty="0"/>
              <a:t>Z0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</a:p>
          <a:p>
            <a:r>
              <a:rPr lang="en-GB" dirty="0" smtClean="0"/>
              <a:t>But  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be accepted by the PDA.</a:t>
            </a:r>
          </a:p>
          <a:p>
            <a:r>
              <a:rPr lang="en-GB" dirty="0" smtClean="0"/>
              <a:t>So changes have to be done.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70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(q0,aababa, Z0) |-(q0, ababa,aZ0) |-(qo,baba,aaZ0) |-(q1,aba, aaz0) |-</a:t>
            </a:r>
          </a:p>
          <a:p>
            <a:r>
              <a:rPr lang="en-GB" dirty="0" smtClean="0"/>
              <a:t>(q1,ba,az0) |-(q1, a,aZ0) |- (q1, null, Z0) |- (</a:t>
            </a:r>
            <a:r>
              <a:rPr lang="en-GB" dirty="0" err="1" smtClean="0"/>
              <a:t>qf</a:t>
            </a:r>
            <a:r>
              <a:rPr lang="en-GB" dirty="0" smtClean="0"/>
              <a:t>, null, zo)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82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Changes done PDA Conti…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>
                <a:solidFill>
                  <a:srgbClr val="00B0F0"/>
                </a:solidFill>
              </a:rPr>
              <a:t>δ(</a:t>
            </a:r>
            <a:r>
              <a:rPr lang="en-GB" dirty="0" smtClean="0">
                <a:solidFill>
                  <a:srgbClr val="00B0F0"/>
                </a:solidFill>
              </a:rPr>
              <a:t>q1, </a:t>
            </a:r>
            <a:r>
              <a:rPr lang="en-GB" dirty="0">
                <a:solidFill>
                  <a:srgbClr val="00B0F0"/>
                </a:solidFill>
              </a:rPr>
              <a:t>a, a) = </a:t>
            </a:r>
            <a:r>
              <a:rPr lang="en-GB" dirty="0" smtClean="0">
                <a:solidFill>
                  <a:srgbClr val="00B0F0"/>
                </a:solidFill>
              </a:rPr>
              <a:t>(q2, </a:t>
            </a:r>
            <a:r>
              <a:rPr lang="el-GR" dirty="0">
                <a:solidFill>
                  <a:srgbClr val="00B0F0"/>
                </a:solidFill>
              </a:rPr>
              <a:t>ε</a:t>
            </a:r>
            <a:r>
              <a:rPr lang="en-GB" dirty="0" smtClean="0">
                <a:solidFill>
                  <a:srgbClr val="00B0F0"/>
                </a:solidFill>
              </a:rPr>
              <a:t>) </a:t>
            </a:r>
            <a:r>
              <a:rPr lang="en-GB" dirty="0" smtClean="0"/>
              <a:t>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</a:t>
            </a:r>
            <a:r>
              <a:rPr lang="en-GB" dirty="0" smtClean="0">
                <a:solidFill>
                  <a:srgbClr val="FF0000"/>
                </a:solidFill>
              </a:rPr>
              <a:t>symbol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a, a) = (q2, </a:t>
            </a:r>
            <a:r>
              <a:rPr lang="el-GR" dirty="0"/>
              <a:t>ε</a:t>
            </a:r>
            <a:r>
              <a:rPr lang="en-GB" dirty="0"/>
              <a:t>)</a:t>
            </a:r>
            <a:endParaRPr lang="en-GB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n-GB" dirty="0"/>
              <a:t>Z0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</a:p>
          <a:p>
            <a:r>
              <a:rPr lang="en-GB" dirty="0" smtClean="0"/>
              <a:t>So now  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 not be accepted by the PDA.</a:t>
            </a:r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73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</a:t>
            </a:r>
            <a:r>
              <a:rPr lang="en-GB" dirty="0" smtClean="0"/>
              <a:t>q1, </a:t>
            </a:r>
            <a:r>
              <a:rPr lang="en-GB" dirty="0"/>
              <a:t>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symbol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a, a) = (q2, </a:t>
            </a:r>
            <a:r>
              <a:rPr lang="el-GR" dirty="0"/>
              <a:t>ε</a:t>
            </a:r>
            <a:r>
              <a:rPr lang="en-GB" dirty="0"/>
              <a:t>) [</a:t>
            </a:r>
            <a:r>
              <a:rPr lang="en-US" dirty="0">
                <a:solidFill>
                  <a:srgbClr val="FF0000"/>
                </a:solidFill>
              </a:rPr>
              <a:t>PDA erases the topmost symbol if it coincides with </a:t>
            </a:r>
            <a:r>
              <a:rPr lang="en-GB" dirty="0">
                <a:solidFill>
                  <a:srgbClr val="FF0000"/>
                </a:solidFill>
              </a:rPr>
              <a:t>the current input symbol</a:t>
            </a:r>
            <a:r>
              <a:rPr lang="en-GB" dirty="0"/>
              <a:t>]</a:t>
            </a:r>
          </a:p>
          <a:p>
            <a:pPr marL="0" indent="0">
              <a:buNone/>
            </a:pP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smtClean="0"/>
              <a:t>q2 , </a:t>
            </a:r>
            <a:r>
              <a:rPr lang="el-GR" dirty="0" smtClean="0"/>
              <a:t>ε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when </a:t>
            </a:r>
            <a:r>
              <a:rPr lang="en-US" dirty="0">
                <a:solidFill>
                  <a:srgbClr val="FF0000"/>
                </a:solidFill>
              </a:rPr>
              <a:t>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</a:t>
            </a:r>
            <a:r>
              <a:rPr lang="en-GB" dirty="0" smtClean="0">
                <a:solidFill>
                  <a:srgbClr val="FF0000"/>
                </a:solidFill>
              </a:rPr>
              <a:t> also is empty.</a:t>
            </a:r>
            <a:r>
              <a:rPr lang="en-GB" dirty="0" smtClean="0"/>
              <a:t>]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not be accepted by above PDA.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02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639097" cy="1818290"/>
          </a:xfrm>
        </p:spPr>
        <p:txBody>
          <a:bodyPr/>
          <a:lstStyle/>
          <a:p>
            <a:r>
              <a:rPr lang="en-GB" dirty="0" smtClean="0"/>
              <a:t>Acceptance by Final state example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6745" y="1198179"/>
            <a:ext cx="10857186" cy="5370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r>
              <a:rPr lang="en-GB" dirty="0"/>
              <a:t>L={a</a:t>
            </a:r>
            <a:r>
              <a:rPr lang="en-GB" baseline="30000" dirty="0"/>
              <a:t>n</a:t>
            </a:r>
            <a:r>
              <a:rPr lang="en-GB" dirty="0"/>
              <a:t> b </a:t>
            </a:r>
            <a:r>
              <a:rPr lang="en-GB" baseline="30000" dirty="0"/>
              <a:t>m</a:t>
            </a:r>
            <a:r>
              <a:rPr lang="en-GB" dirty="0"/>
              <a:t> c </a:t>
            </a:r>
            <a:r>
              <a:rPr lang="en-GB" baseline="30000" dirty="0"/>
              <a:t>n</a:t>
            </a:r>
            <a:r>
              <a:rPr lang="en-GB" dirty="0"/>
              <a:t>| </a:t>
            </a:r>
            <a:r>
              <a:rPr lang="en-GB" dirty="0" err="1"/>
              <a:t>m,n</a:t>
            </a:r>
            <a:r>
              <a:rPr lang="en-GB" dirty="0"/>
              <a:t>&gt;=1}</a:t>
            </a:r>
          </a:p>
          <a:p>
            <a:endParaRPr lang="en-US" dirty="0"/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</a:t>
            </a: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all ‘a’ s will be pushed in the stack, </a:t>
            </a: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all ‘b’ s will be rejected PDA will change the state to remember b from q0 to q1</a:t>
            </a: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When ‘c’ is encountered and ‘a’s  will be popped from the stack and </a:t>
            </a:r>
            <a:r>
              <a:rPr lang="en-US" altLang="en-US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PDA will also change the </a:t>
            </a:r>
            <a:r>
              <a:rPr lang="en-US" altLang="en-US" b="1" smtClean="0">
                <a:solidFill>
                  <a:srgbClr val="0070C0"/>
                </a:solidFill>
                <a:cs typeface="Times New Roman" panose="02020603050405020304" pitchFamily="18" charset="0"/>
              </a:rPr>
              <a:t>state from q1 to q2]</a:t>
            </a:r>
            <a:endParaRPr lang="en-GB" b="1" dirty="0" smtClean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smtClean="0"/>
              <a:t>A </a:t>
            </a:r>
            <a:r>
              <a:rPr lang="en-GB" dirty="0" smtClean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q1,q2,qf</a:t>
            </a:r>
            <a:r>
              <a:rPr lang="en-GB" i="1" dirty="0" smtClean="0"/>
              <a:t>}, {a, b</a:t>
            </a:r>
            <a:r>
              <a:rPr lang="en-GB" dirty="0" smtClean="0"/>
              <a:t>}, </a:t>
            </a:r>
            <a:r>
              <a:rPr lang="en-GB" i="1" dirty="0" smtClean="0"/>
              <a:t>{a,  </a:t>
            </a:r>
            <a:r>
              <a:rPr lang="en-GB" dirty="0" smtClean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 smtClean="0"/>
              <a:t>, Zo,{</a:t>
            </a:r>
            <a:r>
              <a:rPr lang="en-GB" dirty="0" err="1" smtClean="0"/>
              <a:t>qf</a:t>
            </a:r>
            <a:r>
              <a:rPr lang="en-GB" dirty="0" smtClean="0"/>
              <a:t>}</a:t>
            </a:r>
            <a:r>
              <a:rPr lang="en-GB" i="1" dirty="0" smtClean="0"/>
              <a:t>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2 rules  will be used for pushing all ‘a’ s in the stack]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62"/>
    </mc:Choice>
    <mc:Fallback xmlns="">
      <p:transition spd="slow" advTm="13862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c</a:t>
            </a:r>
            <a:r>
              <a:rPr lang="en-GB" dirty="0" smtClean="0"/>
              <a:t>, </a:t>
            </a:r>
            <a:r>
              <a:rPr lang="en-GB" dirty="0"/>
              <a:t>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[[</a:t>
            </a:r>
            <a:r>
              <a:rPr lang="en-US" dirty="0" smtClean="0">
                <a:solidFill>
                  <a:srgbClr val="FF0000"/>
                </a:solidFill>
              </a:rPr>
              <a:t>PDA erases the topmost symbol ‘a’ with </a:t>
            </a:r>
            <a:r>
              <a:rPr lang="en-GB" dirty="0" smtClean="0">
                <a:solidFill>
                  <a:srgbClr val="FF0000"/>
                </a:solidFill>
              </a:rPr>
              <a:t>the current input symbol ‘c’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c, a) = (q2, </a:t>
            </a:r>
            <a:r>
              <a:rPr lang="el-GR" dirty="0"/>
              <a:t>ε</a:t>
            </a:r>
            <a:r>
              <a:rPr lang="en-GB" dirty="0"/>
              <a:t>)</a:t>
            </a:r>
            <a:endParaRPr lang="en-GB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l-GR" dirty="0" smtClean="0"/>
              <a:t>ε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when </a:t>
            </a:r>
            <a:r>
              <a:rPr lang="en-US" dirty="0">
                <a:solidFill>
                  <a:srgbClr val="FF0000"/>
                </a:solidFill>
              </a:rPr>
              <a:t>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</a:t>
            </a:r>
            <a:r>
              <a:rPr lang="en-GB" dirty="0" smtClean="0">
                <a:solidFill>
                  <a:srgbClr val="FF0000"/>
                </a:solidFill>
              </a:rPr>
              <a:t> also is empty.</a:t>
            </a:r>
            <a:r>
              <a:rPr lang="en-GB" dirty="0" smtClean="0"/>
              <a:t>]</a:t>
            </a:r>
          </a:p>
          <a:p>
            <a:r>
              <a:rPr lang="en-GB" dirty="0" smtClean="0"/>
              <a:t>Invalid string ‘</a:t>
            </a:r>
            <a:r>
              <a:rPr lang="en-GB" dirty="0" err="1" smtClean="0"/>
              <a:t>aabcbc</a:t>
            </a:r>
            <a:r>
              <a:rPr lang="en-GB" dirty="0" smtClean="0"/>
              <a:t> will not be accepted.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51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920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Acceptance by Final state example </vt:lpstr>
      <vt:lpstr>Example PDA Conti…</vt:lpstr>
      <vt:lpstr>PowerPoint Presentation</vt:lpstr>
      <vt:lpstr>Changes done PDA Conti…</vt:lpstr>
      <vt:lpstr>Example PDA Conti…</vt:lpstr>
      <vt:lpstr>Acceptance by Final state example </vt:lpstr>
      <vt:lpstr>Example PDA Conti…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</dc:creator>
  <cp:lastModifiedBy>Shweta</cp:lastModifiedBy>
  <cp:revision>36</cp:revision>
  <dcterms:created xsi:type="dcterms:W3CDTF">2020-04-02T04:28:21Z</dcterms:created>
  <dcterms:modified xsi:type="dcterms:W3CDTF">2022-03-23T11:25:56Z</dcterms:modified>
</cp:coreProperties>
</file>