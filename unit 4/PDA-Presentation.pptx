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4" r:id="rId4"/>
    <p:sldId id="260" r:id="rId5"/>
    <p:sldId id="306" r:id="rId6"/>
    <p:sldId id="307" r:id="rId7"/>
    <p:sldId id="308" r:id="rId8"/>
    <p:sldId id="309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4" r:id="rId17"/>
    <p:sldId id="275" r:id="rId18"/>
    <p:sldId id="276" r:id="rId19"/>
    <p:sldId id="277" r:id="rId20"/>
    <p:sldId id="279" r:id="rId21"/>
    <p:sldId id="282" r:id="rId22"/>
    <p:sldId id="283" r:id="rId23"/>
    <p:sldId id="270" r:id="rId24"/>
    <p:sldId id="271" r:id="rId25"/>
    <p:sldId id="296" r:id="rId26"/>
    <p:sldId id="280" r:id="rId27"/>
    <p:sldId id="281" r:id="rId28"/>
    <p:sldId id="302" r:id="rId29"/>
    <p:sldId id="297" r:id="rId30"/>
    <p:sldId id="284" r:id="rId31"/>
    <p:sldId id="285" r:id="rId32"/>
    <p:sldId id="286" r:id="rId33"/>
    <p:sldId id="298" r:id="rId34"/>
    <p:sldId id="303" r:id="rId35"/>
    <p:sldId id="299" r:id="rId36"/>
    <p:sldId id="287" r:id="rId37"/>
    <p:sldId id="288" r:id="rId38"/>
    <p:sldId id="289" r:id="rId39"/>
    <p:sldId id="291" r:id="rId40"/>
    <p:sldId id="292" r:id="rId41"/>
    <p:sldId id="293" r:id="rId42"/>
    <p:sldId id="290" r:id="rId43"/>
    <p:sldId id="294" r:id="rId44"/>
    <p:sldId id="295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0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51.6129" units="1/cm"/>
          <inkml:channelProperty channel="Y" name="resolution" value="51.72414" units="1/cm"/>
          <inkml:channelProperty channel="T" name="resolution" value="1" units="1/dev"/>
        </inkml:channelProperties>
      </inkml:inkSource>
      <inkml:timestamp xml:id="ts0" timeString="2022-03-16T04:55:47.2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9483 7091 0,'21'0'31,"0"0"-31,21 42 16,-21-21-16,1 1 16,20 20-16,-21-21 15,21 0-15,-20 0 16,-1 22-16,21-43 15,-21 21-15,22-21 16,20 0-16,43 0 16,21-42-16,0-1 15,42 1-15,22-22 16,-22 1-16,-21 21 16,0-22-16,-21 22 15,-63-1-15,-22 43 16,-21-21-16,1 21 15</inkml:trace>
  <inkml:trace contextRef="#ctx0" brushRef="#br0" timeOffset="1389.1525">21823 8678 0,'21'43'31,"0"-1"-15,0 0-16,0-20 15,1 20-15,-1-21 16,-21 0-16,21 22 16,0-22-16,0-21 15,22 0 1,-1 0-16,43-43 15,42 1-15,-43 0 16,22-22-16,0-20 0,-43 20 16,-20 43-16,-22-21 15,0 42 1</inkml:trace>
  <inkml:trace contextRef="#ctx0" brushRef="#br0" timeOffset="2207.0943">12763 9800 0,'0'21'63,"22"1"-48,-1 20-15,0-21 16,21 0-16,-21 22 16,1-43-16,-1 42 15,0-21-15,21 0 16,43-21-16,0 0 16,63-42-16,42-85 15,-20 21-15,20 0 16,-21-21-16,22 43 15,-64 20-15,0 22 16,-64 21-16,-41-1 16,-1 1-16</inkml:trace>
  <inkml:trace contextRef="#ctx0" brushRef="#br0" timeOffset="3849.4529">4085 12086 0,'21'0'62,"0"0"-62,43 0 16,-22 0-16,1 0 16,-1 0-16,0 0 15,1 0-15,20 0 16,-21 0-16,1 21 16,41 22-16,43-22 15,0 0-15,0 0 0,22-21 16,20 0-1,0 0-15,1 0 16,-1 0-16,-42 0 0,-21 0 16,-43 0-1,43 21-15,-42 22 16,20-1-16,22-21 0,21 22 16,-21-22-16,21-21 15,-21 0 1,21 0-16,-21 0 0,-22 0 15,1 0-15,-43 0 16,1 0-16,-22 0 16,0 0 109,0-21-110,-42-1 1,-64-20 0</inkml:trace>
  <inkml:trace contextRef="#ctx0" brushRef="#br0" timeOffset="5549.9083">5207 10689 0,'0'21'94,"42"22"-78,-42-22-16,21-21 15,-21 42-15,22-42 16,-22 21-16,0 1 94</inkml:trace>
  <inkml:trace contextRef="#ctx0" brushRef="#br0" timeOffset="6407.4209">6202 10414 0,'0'21'78,"42"22"-78,-21-22 16,22 21-16,-22-21 15,0 0-15,0 22 16,21-22-16,-42 0 16,0 0-16,22 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0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51.6129" units="1/cm"/>
          <inkml:channelProperty channel="Y" name="resolution" value="51.72414" units="1/cm"/>
          <inkml:channelProperty channel="T" name="resolution" value="1" units="1/dev"/>
        </inkml:channelProperties>
      </inkml:inkSource>
      <inkml:timestamp xml:id="ts0" timeString="2021-03-13T08:25:47.3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17780 13526 0,'0'-22'156,"-21"22"-124,21-21 15,-21 21-32,21-21 63,-22 21-62,22-21-16,-21 21 31,21-21 0,-21 21 1,21-21 61,-21-1-61,21 1-17,-42 21 188,20 0-187,1-21 15,0 21-15,0 0 46,0 0-30,0 0-32,-1 0 15,1 0 17,0 21 93,21 0-110,-21-21 1,0 22-1,21-1 17,-21-21 15,21 21-47,0 0 15,0 0 16,-22 0-15,22 1 0,0-1 31,0 0-1,0 0-14,0 0 108,0 0-124,22 1-16,-1-22 31,0 21 172,-21 0-187,21-21 15,0 0 110,-21 21-126,21-21 1,1 0 0,-1 0 31,-21 21-32,42-21 1,-21 0-1,0 0 95,1 0-95,-1-21-15,-21 0 16,21 21-16,-21-21 16,21 0-1,0-1-15,0 1 32,-21 0-1,0 0-31,0 0 94,22-22-79,-22 22 1,0 0 15,0 0 47,21 21 63,-21 21-126,21 0-15,-21 0 16,0 1-16,0 20 16,0-21-16,0 0 15,0 22-15,21-22 16,-21 0-16,21 21 16,-21-21-16,0 1 15,0 20-15,21-21 16,-21 0-16,0 0 15,0 1-15,22-1 16,-22 0-16,0 0 16,21 0-16,-21 0 15,0 22 1,21-43-16,0 21 16,-21 0-16,0 0 15,21-21-15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0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51.6129" units="1/cm"/>
          <inkml:channelProperty channel="Y" name="resolution" value="51.72414" units="1/cm"/>
          <inkml:channelProperty channel="T" name="resolution" value="1" units="1/dev"/>
        </inkml:channelProperties>
      </inkml:inkSource>
      <inkml:timestamp xml:id="ts0" timeString="2021-03-13T08:28:32.5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13039 8467 0,'-22'0'31,"1"21"1,0-21-17,0 21-15,21 0 16,-21 0-16,0 22 16,-1-43-1,1 42-15,0-21 16,0 22-16,0-22 0,0 0 15,-1 21 1,1-21-16,21 1 16,-21-22-16,21 21 15,0 0 1,-21 0 0,21 0-16,-21-21 15,21 21-15,0 1 31,21-44 63,0 1-94,21 0 16</inkml:trace>
  <inkml:trace contextRef="#ctx0" brushRef="#br0" timeOffset="900.388">13017 8446 0,'22'0'78,"-1"21"-63,0 21 1,-21 0-16,42 22 0,-21-1 16,1 22-16,20-21 15,0-43-15,-42 21 16,21-21-16,1 22 16,-44-43 155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0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51.6129" units="1/cm"/>
          <inkml:channelProperty channel="Y" name="resolution" value="51.72414" units="1/cm"/>
          <inkml:channelProperty channel="T" name="resolution" value="1" units="1/dev"/>
        </inkml:channelProperties>
      </inkml:inkSource>
      <inkml:timestamp xml:id="ts0" timeString="2021-03-13T08:29:31.5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28321 8615 0,'-21'0'15,"0"21"1,-1 0 0,1 22-16,0-22 0,0 21 15,-21 22-15,20-1 16,1-42-16,-21 22 15,21 20-15,0-21 16,-1 1-16,22-22 16,-21 21-16,21-21 15,-21 1-15,21-1 16</inkml:trace>
  <inkml:trace contextRef="#ctx0" brushRef="#br0" timeOffset="947.0565">28236 8678 0,'21'0'31,"1"0"0,-22 22-31,0-1 16,21 0-16,-21 21 16,21 1-16,0-1 15,-21 0-15,0 22 0,21-1 16,0-20-16,-21-1 16,0-21-1,0 21-15,22-20 16,-22-1-16,0 0 15</inkml:trace>
  <inkml:trace contextRef="#ctx0" brushRef="#br0" timeOffset="1733.6959">29633 8657 0,'0'21'79,"-21"22"-64,0-1-15,-21 0 16,42 1-16,-22-1 15,1 0-15,21-20 16,0-1-16,0 0 16,0 0-16,0-42 109</inkml:trace>
  <inkml:trace contextRef="#ctx0" brushRef="#br0" timeOffset="2492.345">29654 8382 0,'0'42'62,"22"-20"-62,-1-1 16,-21 21-16,0-21 0,21 0 15,0 22 1,-21-1-16,0-21 0,21 0 16,0 1-16,-21-1 15,0 21 1,22-21-16,-1 0 0,-21 22 15,21-22 1,0 0-16,-21 21 16,0-20-16,21-1 15,0 0-15,1 21 63,-22-21-32,21 1-31,0-1 16,-21 0-1</inkml:trace>
  <inkml:trace contextRef="#ctx0" brushRef="#br0" timeOffset="5039.0742">27919 9779 0,'21'0'78,"21"-21"-62,1 0-16,20-22 15,1 1-15,-22 21 16,0-21-16,1 20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2CA9-0F41-4C91-A483-FAD316365A3F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DFFA9-5FE1-4554-991F-58C58CEF9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98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2CA9-0F41-4C91-A483-FAD316365A3F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DFFA9-5FE1-4554-991F-58C58CEF9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72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2CA9-0F41-4C91-A483-FAD316365A3F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DFFA9-5FE1-4554-991F-58C58CEF9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663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2CA9-0F41-4C91-A483-FAD316365A3F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DFFA9-5FE1-4554-991F-58C58CEF9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021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2CA9-0F41-4C91-A483-FAD316365A3F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DFFA9-5FE1-4554-991F-58C58CEF9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9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2CA9-0F41-4C91-A483-FAD316365A3F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DFFA9-5FE1-4554-991F-58C58CEF9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603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2CA9-0F41-4C91-A483-FAD316365A3F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DFFA9-5FE1-4554-991F-58C58CEF9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708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2CA9-0F41-4C91-A483-FAD316365A3F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DFFA9-5FE1-4554-991F-58C58CEF9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391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2CA9-0F41-4C91-A483-FAD316365A3F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DFFA9-5FE1-4554-991F-58C58CEF9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0233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2CA9-0F41-4C91-A483-FAD316365A3F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DFFA9-5FE1-4554-991F-58C58CEF9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73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2CA9-0F41-4C91-A483-FAD316365A3F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DFFA9-5FE1-4554-991F-58C58CEF9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2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D2CA9-0F41-4C91-A483-FAD316365A3F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DFFA9-5FE1-4554-991F-58C58CEF9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9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customXml" Target="../ink/ink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emf"/><Relationship Id="rId4" Type="http://schemas.openxmlformats.org/officeDocument/2006/relationships/customXml" Target="../ink/ink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UNIT-IV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S. A. </a:t>
            </a:r>
            <a:r>
              <a:rPr lang="en-GB" dirty="0" err="1" smtClean="0"/>
              <a:t>Tiwaskar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78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91"/>
    </mc:Choice>
    <mc:Fallback xmlns="">
      <p:transition spd="slow" advTm="409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PDA is an automaton equivalent to the CFG in language-defining power. </a:t>
            </a:r>
          </a:p>
          <a:p>
            <a:r>
              <a:rPr lang="en-GB" dirty="0" smtClean="0"/>
              <a:t>Only the nondeterministic PDA defines all the CFL’s.</a:t>
            </a:r>
          </a:p>
          <a:p>
            <a:r>
              <a:rPr lang="en-GB" dirty="0" smtClean="0"/>
              <a:t>But the deterministic version models parsers.</a:t>
            </a:r>
          </a:p>
          <a:p>
            <a:r>
              <a:rPr lang="en-GB" dirty="0" smtClean="0"/>
              <a:t> Most programming languages have deterministic PDA’s.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823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445"/>
    </mc:Choice>
    <mc:Fallback xmlns="">
      <p:transition spd="slow" advTm="18445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Model of a Pushdown automaton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3903" y="2072481"/>
            <a:ext cx="8570113" cy="399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82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083"/>
    </mc:Choice>
    <mc:Fallback xmlns="">
      <p:transition spd="slow" advTm="38083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 A PDA is described by: </a:t>
            </a:r>
          </a:p>
          <a:p>
            <a:r>
              <a:rPr lang="en-GB" dirty="0" smtClean="0"/>
              <a:t>1. A finite set of states (Q, typically). </a:t>
            </a:r>
          </a:p>
          <a:p>
            <a:r>
              <a:rPr lang="en-GB" dirty="0" smtClean="0"/>
              <a:t>2. An input alphabet (</a:t>
            </a:r>
            <a:r>
              <a:rPr lang="el-GR" dirty="0" smtClean="0"/>
              <a:t>Σ, </a:t>
            </a:r>
            <a:r>
              <a:rPr lang="en-GB" dirty="0" smtClean="0"/>
              <a:t>typically). </a:t>
            </a:r>
          </a:p>
          <a:p>
            <a:r>
              <a:rPr lang="en-GB" dirty="0" smtClean="0"/>
              <a:t>3. A stack alphabet ( </a:t>
            </a:r>
            <a:r>
              <a:rPr lang="el-GR" dirty="0" smtClean="0"/>
              <a:t>Γ, </a:t>
            </a:r>
            <a:r>
              <a:rPr lang="en-GB" dirty="0" smtClean="0"/>
              <a:t>typically). </a:t>
            </a:r>
          </a:p>
          <a:p>
            <a:r>
              <a:rPr lang="en-GB" dirty="0" smtClean="0"/>
              <a:t>4. A transition function (</a:t>
            </a:r>
            <a:r>
              <a:rPr lang="el-GR" dirty="0" smtClean="0"/>
              <a:t>δ, </a:t>
            </a:r>
            <a:r>
              <a:rPr lang="en-GB" dirty="0" smtClean="0"/>
              <a:t>typically). </a:t>
            </a:r>
          </a:p>
          <a:p>
            <a:r>
              <a:rPr lang="en-GB" dirty="0" smtClean="0"/>
              <a:t>5. A start state (q 0, in Q, typically). </a:t>
            </a:r>
          </a:p>
          <a:p>
            <a:r>
              <a:rPr lang="en-GB" dirty="0" smtClean="0"/>
              <a:t>6. A start symbol (Z 0, in </a:t>
            </a:r>
            <a:r>
              <a:rPr lang="el-GR" dirty="0" smtClean="0"/>
              <a:t>Γ, </a:t>
            </a:r>
            <a:r>
              <a:rPr lang="en-GB" dirty="0" smtClean="0"/>
              <a:t>typically).</a:t>
            </a:r>
          </a:p>
          <a:p>
            <a:r>
              <a:rPr lang="en-GB" dirty="0" smtClean="0"/>
              <a:t> 7. A set of final states (F ⊆ Q, typically)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421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"/>
    </mc:Choice>
    <mc:Fallback xmlns="">
      <p:transition spd="slow" advTm="86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Its moves are determined by: </a:t>
            </a:r>
          </a:p>
          <a:p>
            <a:r>
              <a:rPr lang="en-US" dirty="0" smtClean="0"/>
              <a:t>1. The current state </a:t>
            </a:r>
          </a:p>
          <a:p>
            <a:r>
              <a:rPr lang="en-US" dirty="0" smtClean="0"/>
              <a:t>2. The current input symbol (or ε), and </a:t>
            </a:r>
          </a:p>
          <a:p>
            <a:r>
              <a:rPr lang="en-US" dirty="0" smtClean="0"/>
              <a:t>3. The current symbol on top of its stack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03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89"/>
    </mc:Choice>
    <mc:Fallback xmlns="">
      <p:transition spd="slow" advTm="7589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Transition Function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Transition </a:t>
            </a:r>
            <a:r>
              <a:rPr lang="en-GB" dirty="0" smtClean="0"/>
              <a:t>Function has</a:t>
            </a:r>
            <a:r>
              <a:rPr lang="en-US" dirty="0" smtClean="0"/>
              <a:t> three arguments: </a:t>
            </a:r>
          </a:p>
          <a:p>
            <a:r>
              <a:rPr lang="en-US" dirty="0" smtClean="0"/>
              <a:t>1. A state, in Q. </a:t>
            </a:r>
          </a:p>
          <a:p>
            <a:r>
              <a:rPr lang="en-US" dirty="0" smtClean="0"/>
              <a:t>2. An input, which is either a symbol in Σ or ε. </a:t>
            </a:r>
          </a:p>
          <a:p>
            <a:r>
              <a:rPr lang="en-US" dirty="0" smtClean="0"/>
              <a:t>3. A stack symbol in Γ. </a:t>
            </a:r>
          </a:p>
          <a:p>
            <a:r>
              <a:rPr lang="en-US" dirty="0" smtClean="0"/>
              <a:t> δ(q, a, Z) is a set of zero or more actions of the form (p, </a:t>
            </a:r>
            <a:r>
              <a:rPr lang="el-GR" dirty="0" smtClean="0"/>
              <a:t>α</a:t>
            </a:r>
            <a:r>
              <a:rPr lang="en-US" dirty="0" smtClean="0"/>
              <a:t>). </a:t>
            </a:r>
          </a:p>
          <a:p>
            <a:r>
              <a:rPr lang="en-US" dirty="0" smtClean="0"/>
              <a:t> p is a state; </a:t>
            </a:r>
            <a:r>
              <a:rPr lang="el-GR" dirty="0" smtClean="0"/>
              <a:t>α</a:t>
            </a:r>
            <a:r>
              <a:rPr lang="en-US" dirty="0" smtClean="0"/>
              <a:t> is a string of stack symbols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470600" y="2476440"/>
              <a:ext cx="6721200" cy="1989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1240" y="2467080"/>
                <a:ext cx="6739920" cy="200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313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22"/>
    </mc:Choice>
    <mc:Fallback xmlns="">
      <p:transition spd="slow" advTm="17122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Actions of the PDA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δ(q, a, Z) contains (p, </a:t>
            </a:r>
            <a:r>
              <a:rPr lang="el-GR" dirty="0" smtClean="0"/>
              <a:t>α</a:t>
            </a:r>
            <a:r>
              <a:rPr lang="en-US" dirty="0" smtClean="0"/>
              <a:t>) among its actions, then one thing the PDA can do in state q, with a at the front of the input, and Z on top of the stack is: </a:t>
            </a:r>
          </a:p>
          <a:p>
            <a:r>
              <a:rPr lang="en-US" dirty="0" smtClean="0"/>
              <a:t>1. Change the state to p. </a:t>
            </a:r>
          </a:p>
          <a:p>
            <a:r>
              <a:rPr lang="en-US" dirty="0" smtClean="0"/>
              <a:t>2. Remove a from the front of the input (but a may be ε).</a:t>
            </a:r>
          </a:p>
          <a:p>
            <a:r>
              <a:rPr lang="en-US" dirty="0" smtClean="0"/>
              <a:t> 3. Replace Z on the top of the stack by </a:t>
            </a:r>
            <a:r>
              <a:rPr lang="el-GR" dirty="0" smtClean="0"/>
              <a:t>α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39"/>
    </mc:Choice>
    <mc:Fallback xmlns="">
      <p:transition spd="slow" advTm="22639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Example: PDA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 a PDA to accept {0</a:t>
            </a:r>
            <a:r>
              <a:rPr lang="en-US" baseline="30000" dirty="0" smtClean="0"/>
              <a:t>n</a:t>
            </a:r>
            <a:r>
              <a:rPr lang="en-US" dirty="0" smtClean="0"/>
              <a:t>1</a:t>
            </a:r>
            <a:r>
              <a:rPr lang="en-US" baseline="30000" dirty="0" smtClean="0"/>
              <a:t>n </a:t>
            </a:r>
            <a:r>
              <a:rPr lang="en-US" dirty="0" smtClean="0"/>
              <a:t>| n &gt; 1}. </a:t>
            </a:r>
          </a:p>
          <a:p>
            <a:r>
              <a:rPr lang="en-US" dirty="0" smtClean="0"/>
              <a:t>The states: </a:t>
            </a:r>
          </a:p>
          <a:p>
            <a:r>
              <a:rPr lang="en-US" dirty="0" smtClean="0"/>
              <a:t> </a:t>
            </a:r>
            <a:r>
              <a:rPr lang="en-US" dirty="0" smtClean="0"/>
              <a:t>q </a:t>
            </a:r>
            <a:r>
              <a:rPr lang="en-US" dirty="0" smtClean="0"/>
              <a:t>= start state. We are in state q0 if we have seen only 0’s so far. </a:t>
            </a:r>
          </a:p>
          <a:p>
            <a:r>
              <a:rPr lang="en-US" dirty="0" smtClean="0"/>
              <a:t> </a:t>
            </a:r>
            <a:r>
              <a:rPr lang="en-US" dirty="0"/>
              <a:t>p</a:t>
            </a:r>
            <a:r>
              <a:rPr lang="en-US" dirty="0" smtClean="0"/>
              <a:t> </a:t>
            </a:r>
            <a:r>
              <a:rPr lang="en-US" dirty="0" smtClean="0"/>
              <a:t>= we’ve seen at least one 1 and may now proceed only if the inputs are 1’s. </a:t>
            </a:r>
          </a:p>
          <a:p>
            <a:r>
              <a:rPr lang="en-US" dirty="0" smtClean="0"/>
              <a:t> </a:t>
            </a:r>
            <a:r>
              <a:rPr lang="en-US" dirty="0" smtClean="0"/>
              <a:t>f </a:t>
            </a:r>
            <a:r>
              <a:rPr lang="en-US" dirty="0" smtClean="0"/>
              <a:t>= final state; accept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9756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446"/>
    </mc:Choice>
    <mc:Fallback xmlns="">
      <p:transition spd="slow" advTm="43446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Example: PDA – (2)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stack symbols: </a:t>
            </a:r>
          </a:p>
          <a:p>
            <a:r>
              <a:rPr lang="en-US" dirty="0" smtClean="0"/>
              <a:t> Z0 = start symbol. Also marks the bottom of the stack, so we know when we have counted the same number of 1’s as 0’s.</a:t>
            </a:r>
          </a:p>
          <a:p>
            <a:r>
              <a:rPr lang="en-US" dirty="0" smtClean="0"/>
              <a:t>All 0’s we will push in the stack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074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Example: PDA – (3)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0485"/>
          </a:xfrm>
        </p:spPr>
        <p:txBody>
          <a:bodyPr>
            <a:normAutofit lnSpcReduction="10000"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Note: we are pushing all 0’s in the stack and popping one  0’s from the stack when 1 is appearing in the input </a:t>
            </a:r>
          </a:p>
          <a:p>
            <a:r>
              <a:rPr lang="en-GB" dirty="0" smtClean="0"/>
              <a:t>The transitions: </a:t>
            </a:r>
          </a:p>
          <a:p>
            <a:r>
              <a:rPr lang="en-GB" dirty="0" smtClean="0"/>
              <a:t> </a:t>
            </a:r>
            <a:r>
              <a:rPr lang="el-GR" dirty="0" smtClean="0"/>
              <a:t>δ(</a:t>
            </a:r>
            <a:r>
              <a:rPr lang="en-GB" dirty="0" smtClean="0"/>
              <a:t>q, 0, Z0) = {(q, 0Z0)}.[</a:t>
            </a:r>
            <a:r>
              <a:rPr lang="en-GB" dirty="0" smtClean="0">
                <a:solidFill>
                  <a:srgbClr val="FF0000"/>
                </a:solidFill>
              </a:rPr>
              <a:t>first 0 is pushed in the stack</a:t>
            </a:r>
            <a:r>
              <a:rPr lang="en-GB" dirty="0" smtClean="0"/>
              <a:t>]</a:t>
            </a:r>
          </a:p>
          <a:p>
            <a:r>
              <a:rPr lang="en-GB" dirty="0" smtClean="0"/>
              <a:t> </a:t>
            </a:r>
            <a:r>
              <a:rPr lang="el-GR" dirty="0" smtClean="0"/>
              <a:t>δ(</a:t>
            </a:r>
            <a:r>
              <a:rPr lang="en-GB" dirty="0" smtClean="0"/>
              <a:t>q, 0, 0) = {(q, 00)}. [</a:t>
            </a:r>
            <a:r>
              <a:rPr lang="en-GB" dirty="0" smtClean="0">
                <a:solidFill>
                  <a:srgbClr val="FF0000"/>
                </a:solidFill>
              </a:rPr>
              <a:t>Subsequent 0’s pushed in the stack</a:t>
            </a:r>
            <a:r>
              <a:rPr lang="en-GB" dirty="0" smtClean="0"/>
              <a:t>]</a:t>
            </a:r>
          </a:p>
          <a:p>
            <a:r>
              <a:rPr lang="en-GB" dirty="0" smtClean="0"/>
              <a:t>Above two rules cause  all 0 ‘s to be pushed onto the stack from the input. </a:t>
            </a:r>
          </a:p>
          <a:p>
            <a:r>
              <a:rPr lang="en-GB" dirty="0" smtClean="0"/>
              <a:t> </a:t>
            </a:r>
            <a:r>
              <a:rPr lang="el-GR" dirty="0" smtClean="0"/>
              <a:t>δ(</a:t>
            </a:r>
            <a:r>
              <a:rPr lang="en-GB" dirty="0" smtClean="0"/>
              <a:t>q, 1, 0) = {(p, </a:t>
            </a:r>
            <a:r>
              <a:rPr lang="el-GR" dirty="0" smtClean="0"/>
              <a:t>ε)}. </a:t>
            </a:r>
            <a:r>
              <a:rPr lang="en-GB" dirty="0" smtClean="0"/>
              <a:t>When we see a 1, go to state p and pop one 0. </a:t>
            </a:r>
          </a:p>
          <a:p>
            <a:r>
              <a:rPr lang="en-GB" dirty="0" smtClean="0"/>
              <a:t> </a:t>
            </a:r>
            <a:r>
              <a:rPr lang="el-GR" dirty="0" smtClean="0"/>
              <a:t>δ(</a:t>
            </a:r>
            <a:r>
              <a:rPr lang="en-GB" dirty="0" smtClean="0"/>
              <a:t>p, 1, 0) = {(p, </a:t>
            </a:r>
            <a:r>
              <a:rPr lang="el-GR" dirty="0" smtClean="0"/>
              <a:t>ε)}. </a:t>
            </a:r>
            <a:r>
              <a:rPr lang="en-GB" dirty="0" smtClean="0"/>
              <a:t>Pop one 0 per 1. </a:t>
            </a:r>
            <a:endParaRPr lang="en-GB" dirty="0"/>
          </a:p>
          <a:p>
            <a:r>
              <a:rPr lang="el-GR" dirty="0" smtClean="0"/>
              <a:t>δ(</a:t>
            </a:r>
            <a:r>
              <a:rPr lang="en-GB" dirty="0" smtClean="0"/>
              <a:t>p, </a:t>
            </a:r>
            <a:r>
              <a:rPr lang="el-GR" dirty="0" smtClean="0"/>
              <a:t>ε, </a:t>
            </a:r>
            <a:r>
              <a:rPr lang="en-GB" dirty="0" smtClean="0"/>
              <a:t>Z0) = {(f, Z0)}. Accept at bottom.[</a:t>
            </a:r>
            <a:r>
              <a:rPr lang="en-GB" dirty="0" smtClean="0">
                <a:solidFill>
                  <a:srgbClr val="FF0000"/>
                </a:solidFill>
              </a:rPr>
              <a:t>when input is over PDA will </a:t>
            </a:r>
            <a:r>
              <a:rPr lang="en-GB" dirty="0">
                <a:solidFill>
                  <a:srgbClr val="FF0000"/>
                </a:solidFill>
              </a:rPr>
              <a:t>g</a:t>
            </a:r>
            <a:r>
              <a:rPr lang="en-GB" dirty="0" smtClean="0">
                <a:solidFill>
                  <a:srgbClr val="FF0000"/>
                </a:solidFill>
              </a:rPr>
              <a:t>o to final state f</a:t>
            </a:r>
            <a:r>
              <a:rPr lang="en-GB" dirty="0" smtClean="0"/>
              <a:t>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940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Instantaneous Descriptions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Instantaneous description (ID). </a:t>
            </a:r>
          </a:p>
          <a:p>
            <a:r>
              <a:rPr lang="en-US" dirty="0" smtClean="0"/>
              <a:t> A ID is a triple (q, w,</a:t>
            </a:r>
            <a:r>
              <a:rPr lang="el-GR" dirty="0" smtClean="0"/>
              <a:t>α</a:t>
            </a:r>
            <a:r>
              <a:rPr lang="en-US" dirty="0" smtClean="0"/>
              <a:t> ), where: </a:t>
            </a:r>
          </a:p>
          <a:p>
            <a:r>
              <a:rPr lang="en-US" dirty="0" smtClean="0"/>
              <a:t>1. q is the current state. </a:t>
            </a:r>
          </a:p>
          <a:p>
            <a:r>
              <a:rPr lang="en-US" dirty="0" smtClean="0"/>
              <a:t>2. w is the remaining input. </a:t>
            </a:r>
          </a:p>
          <a:p>
            <a:r>
              <a:rPr lang="en-US" dirty="0" smtClean="0"/>
              <a:t>3. </a:t>
            </a:r>
            <a:r>
              <a:rPr lang="el-GR" dirty="0" smtClean="0"/>
              <a:t>α</a:t>
            </a:r>
            <a:r>
              <a:rPr lang="en-US" dirty="0" smtClean="0"/>
              <a:t> is the stack contents, top at the left.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004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“Goes-To”(Move ) Relation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say that ID I can become ID J in one move of the PDA, </a:t>
            </a:r>
          </a:p>
          <a:p>
            <a:r>
              <a:rPr lang="en-US" dirty="0" smtClean="0"/>
              <a:t>we write I ⊦J. </a:t>
            </a:r>
          </a:p>
          <a:p>
            <a:r>
              <a:rPr lang="en-US" dirty="0" smtClean="0"/>
              <a:t>Formally, (q, aw, X α ) ⊦(p, w, </a:t>
            </a:r>
            <a:r>
              <a:rPr lang="el-GR" dirty="0" smtClean="0"/>
              <a:t>βα</a:t>
            </a:r>
            <a:r>
              <a:rPr lang="en-US" dirty="0" smtClean="0"/>
              <a:t>) for any w and </a:t>
            </a:r>
            <a:r>
              <a:rPr lang="el-GR" dirty="0" smtClean="0"/>
              <a:t>α</a:t>
            </a:r>
            <a:r>
              <a:rPr lang="en-US" dirty="0" smtClean="0"/>
              <a:t>, if δ(q, a, X) contains (p, </a:t>
            </a:r>
            <a:r>
              <a:rPr lang="el-GR" dirty="0" smtClean="0"/>
              <a:t>β</a:t>
            </a:r>
            <a:r>
              <a:rPr lang="en-US" dirty="0" smtClean="0"/>
              <a:t>).</a:t>
            </a:r>
          </a:p>
          <a:p>
            <a:r>
              <a:rPr lang="en-US" dirty="0" smtClean="0"/>
              <a:t>Extend ⊦ to ⊦*, meaning “zero or more moves,”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215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Example: Goes-To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Using the  example </a:t>
            </a:r>
            <a:r>
              <a:rPr lang="en-US" dirty="0" smtClean="0"/>
              <a:t>{0</a:t>
            </a:r>
            <a:r>
              <a:rPr lang="en-US" baseline="30000" dirty="0" smtClean="0"/>
              <a:t>n</a:t>
            </a:r>
            <a:r>
              <a:rPr lang="en-US" dirty="0" smtClean="0"/>
              <a:t>1</a:t>
            </a:r>
            <a:r>
              <a:rPr lang="en-US" baseline="30000" dirty="0" smtClean="0"/>
              <a:t>n </a:t>
            </a:r>
            <a:r>
              <a:rPr lang="en-US" dirty="0" smtClean="0"/>
              <a:t>| n &gt; 1} </a:t>
            </a:r>
            <a:r>
              <a:rPr lang="en-GB" dirty="0" smtClean="0"/>
              <a:t>PDA. we can describe the sequence of moves by:</a:t>
            </a:r>
          </a:p>
          <a:p>
            <a:r>
              <a:rPr lang="en-GB" dirty="0" smtClean="0"/>
              <a:t> (q, 000111, Z0)⊦(q, 00111, 0Z0)⊦ (q, 0111, 00Z0)⊦(q, 111, 000Z0)⊦ (p, 11, 00Z0)⊦(p, 1, 0Z0)⊦(p, </a:t>
            </a:r>
            <a:r>
              <a:rPr lang="el-GR" dirty="0" smtClean="0"/>
              <a:t>ε, </a:t>
            </a:r>
            <a:r>
              <a:rPr lang="en-GB" dirty="0" smtClean="0"/>
              <a:t>Z0)⊦ (f, </a:t>
            </a:r>
            <a:r>
              <a:rPr lang="el-GR" dirty="0" smtClean="0"/>
              <a:t>ε, </a:t>
            </a:r>
            <a:r>
              <a:rPr lang="en-GB" dirty="0" smtClean="0"/>
              <a:t>Z0) </a:t>
            </a:r>
          </a:p>
          <a:p>
            <a:r>
              <a:rPr lang="en-GB" dirty="0" smtClean="0"/>
              <a:t>Thus, (q, 000111, Z0)⊦*(f, </a:t>
            </a:r>
            <a:r>
              <a:rPr lang="el-GR" dirty="0" smtClean="0"/>
              <a:t>ε, </a:t>
            </a:r>
            <a:r>
              <a:rPr lang="en-GB" dirty="0" smtClean="0"/>
              <a:t>Z0). </a:t>
            </a:r>
          </a:p>
          <a:p>
            <a:r>
              <a:rPr lang="en-GB" dirty="0" smtClean="0"/>
              <a:t>What would happen on input 0001111?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8971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Answer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(q, 0001111, Z0)⊦(q, 001111, 0Z0)⊦ (q, 01111, 00Z0)⊦(q, 1111, 000Z0)⊦ (p, 111, 00Z0)⊦(p, 11, 0Z0)⊦(p, 1, Z0)</a:t>
            </a:r>
          </a:p>
          <a:p>
            <a:r>
              <a:rPr lang="en-GB" dirty="0" smtClean="0"/>
              <a:t> Note the last ID has no move. </a:t>
            </a:r>
          </a:p>
          <a:p>
            <a:r>
              <a:rPr lang="en-GB" dirty="0" smtClean="0"/>
              <a:t>0001111 is not accepted, because the input is not completely consumed.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549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PDA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Design a PDA to accept {</a:t>
            </a:r>
            <a:r>
              <a:rPr lang="en-US" dirty="0" err="1" smtClean="0"/>
              <a:t>a</a:t>
            </a:r>
            <a:r>
              <a:rPr lang="en-US" baseline="30000" dirty="0" err="1" smtClean="0"/>
              <a:t>n</a:t>
            </a:r>
            <a:r>
              <a:rPr lang="en-US" dirty="0" err="1"/>
              <a:t>b</a:t>
            </a:r>
            <a:r>
              <a:rPr lang="en-US" baseline="30000" dirty="0" err="1" smtClean="0"/>
              <a:t>n</a:t>
            </a:r>
            <a:r>
              <a:rPr lang="en-US" baseline="30000" dirty="0" smtClean="0"/>
              <a:t> </a:t>
            </a:r>
            <a:r>
              <a:rPr lang="en-US" dirty="0" smtClean="0"/>
              <a:t>| n &gt; 1}.</a:t>
            </a:r>
          </a:p>
          <a:p>
            <a:r>
              <a:rPr lang="en-GB" dirty="0" smtClean="0"/>
              <a:t>The transitions: </a:t>
            </a:r>
          </a:p>
          <a:p>
            <a:r>
              <a:rPr lang="en-GB" dirty="0" smtClean="0"/>
              <a:t> </a:t>
            </a:r>
            <a:r>
              <a:rPr lang="el-GR" dirty="0" smtClean="0"/>
              <a:t>δ(</a:t>
            </a:r>
            <a:r>
              <a:rPr lang="en-GB" dirty="0" smtClean="0"/>
              <a:t>q0, a, Z0) = {(q0, aZ0)}.[</a:t>
            </a:r>
            <a:r>
              <a:rPr lang="en-GB" dirty="0" smtClean="0">
                <a:solidFill>
                  <a:srgbClr val="FF0000"/>
                </a:solidFill>
              </a:rPr>
              <a:t>first ‘a ‘is pushed in the stack</a:t>
            </a:r>
            <a:r>
              <a:rPr lang="en-GB" dirty="0" smtClean="0"/>
              <a:t>]</a:t>
            </a:r>
          </a:p>
          <a:p>
            <a:r>
              <a:rPr lang="en-GB" dirty="0" smtClean="0"/>
              <a:t> </a:t>
            </a:r>
            <a:r>
              <a:rPr lang="el-GR" dirty="0" smtClean="0"/>
              <a:t>δ(</a:t>
            </a:r>
            <a:r>
              <a:rPr lang="en-GB" dirty="0" smtClean="0"/>
              <a:t>q0, a, </a:t>
            </a:r>
            <a:r>
              <a:rPr lang="en-GB" dirty="0"/>
              <a:t>a</a:t>
            </a:r>
            <a:r>
              <a:rPr lang="en-GB" dirty="0" smtClean="0"/>
              <a:t>) = {(q0, aa)}. [</a:t>
            </a:r>
            <a:r>
              <a:rPr lang="en-GB" dirty="0" smtClean="0">
                <a:solidFill>
                  <a:srgbClr val="FF0000"/>
                </a:solidFill>
              </a:rPr>
              <a:t>Subsequent ‘a’s pushed in the stack</a:t>
            </a:r>
            <a:r>
              <a:rPr lang="en-GB" dirty="0" smtClean="0"/>
              <a:t>]</a:t>
            </a:r>
          </a:p>
          <a:p>
            <a:r>
              <a:rPr lang="en-GB" dirty="0" smtClean="0"/>
              <a:t>Above two rules cause  all a ‘s to be pushed onto the stack from the input. </a:t>
            </a:r>
          </a:p>
          <a:p>
            <a:r>
              <a:rPr lang="en-GB" dirty="0" smtClean="0"/>
              <a:t> </a:t>
            </a:r>
            <a:r>
              <a:rPr lang="el-GR" dirty="0" smtClean="0"/>
              <a:t>δ(</a:t>
            </a:r>
            <a:r>
              <a:rPr lang="en-GB" dirty="0" smtClean="0"/>
              <a:t>q0, b, a) = {(q1, </a:t>
            </a:r>
            <a:r>
              <a:rPr lang="el-GR" dirty="0" smtClean="0"/>
              <a:t>ε)}. </a:t>
            </a:r>
            <a:r>
              <a:rPr lang="en-GB" dirty="0" smtClean="0"/>
              <a:t>When PDA sees ‘b’, go to state q1 and pop one a. </a:t>
            </a:r>
          </a:p>
          <a:p>
            <a:r>
              <a:rPr lang="en-GB" dirty="0" smtClean="0"/>
              <a:t> </a:t>
            </a:r>
            <a:r>
              <a:rPr lang="el-GR" dirty="0" smtClean="0"/>
              <a:t>δ(</a:t>
            </a:r>
            <a:r>
              <a:rPr lang="en-GB" dirty="0" smtClean="0"/>
              <a:t>q1, b, </a:t>
            </a:r>
            <a:r>
              <a:rPr lang="en-GB" dirty="0"/>
              <a:t>a</a:t>
            </a:r>
            <a:r>
              <a:rPr lang="en-GB" dirty="0" smtClean="0"/>
              <a:t>) = {(q1, </a:t>
            </a:r>
            <a:r>
              <a:rPr lang="el-GR" dirty="0" smtClean="0"/>
              <a:t>ε)}. </a:t>
            </a:r>
            <a:r>
              <a:rPr lang="en-GB" dirty="0" smtClean="0"/>
              <a:t>Pop one ‘a’ per ‘b’. </a:t>
            </a:r>
          </a:p>
          <a:p>
            <a:r>
              <a:rPr lang="el-GR" dirty="0" smtClean="0"/>
              <a:t>δ(</a:t>
            </a:r>
            <a:r>
              <a:rPr lang="en-GB" dirty="0" smtClean="0"/>
              <a:t>q1, </a:t>
            </a:r>
            <a:r>
              <a:rPr lang="el-GR" dirty="0" smtClean="0"/>
              <a:t>ε, </a:t>
            </a:r>
            <a:r>
              <a:rPr lang="en-GB" dirty="0" smtClean="0"/>
              <a:t>Z0) = {(</a:t>
            </a:r>
            <a:r>
              <a:rPr lang="en-GB" dirty="0" err="1" smtClean="0"/>
              <a:t>qf</a:t>
            </a:r>
            <a:r>
              <a:rPr lang="en-GB" dirty="0" smtClean="0"/>
              <a:t>, Z0)}. Accept at bottom.[</a:t>
            </a:r>
            <a:r>
              <a:rPr lang="en-GB" dirty="0" smtClean="0">
                <a:solidFill>
                  <a:srgbClr val="FF0000"/>
                </a:solidFill>
              </a:rPr>
              <a:t>when input is over PDA will go to final state </a:t>
            </a:r>
            <a:r>
              <a:rPr lang="en-GB" dirty="0" err="1" smtClean="0">
                <a:solidFill>
                  <a:srgbClr val="FF0000"/>
                </a:solidFill>
              </a:rPr>
              <a:t>qf</a:t>
            </a:r>
            <a:r>
              <a:rPr lang="en-GB" dirty="0" smtClean="0"/>
              <a:t>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016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PDA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 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018" y="1825625"/>
            <a:ext cx="6110101" cy="1496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17777" y="2748825"/>
            <a:ext cx="14959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/>
              <a:t>Q={q0,q1,qf}, </a:t>
            </a:r>
          </a:p>
        </p:txBody>
      </p:sp>
    </p:spTree>
    <p:extLst>
      <p:ext uri="{BB962C8B-B14F-4D97-AF65-F5344CB8AC3E}">
        <p14:creationId xmlns:p14="http://schemas.microsoft.com/office/powerpoint/2010/main" val="1052891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3971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Example PDA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39096"/>
            <a:ext cx="10515600" cy="590854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Design a PDA 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For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the language {x | x =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wcw</a:t>
            </a:r>
            <a:r>
              <a:rPr lang="en-US" altLang="en-US" baseline="30000" dirty="0" err="1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r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 and 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w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 in 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{</a:t>
            </a:r>
            <a:r>
              <a:rPr lang="en-US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a,b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}*, or {x | x = </a:t>
            </a:r>
            <a:r>
              <a:rPr lang="en-US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wcw</a:t>
            </a:r>
            <a:r>
              <a:rPr lang="en-US" altLang="en-US" baseline="30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T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 and </a:t>
            </a:r>
            <a:r>
              <a:rPr lang="en-US" alt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w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 in {</a:t>
            </a:r>
            <a:r>
              <a:rPr lang="en-US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a,b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}*, </a:t>
            </a:r>
          </a:p>
          <a:p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[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Note: Design strategy is w will be pushed in the stack, c will be rejected PDA will change the state to remember c is encountered and for ‘</a:t>
            </a:r>
            <a:r>
              <a:rPr lang="en-US" altLang="en-US" dirty="0" err="1" smtClean="0">
                <a:solidFill>
                  <a:srgbClr val="FF0000"/>
                </a:solidFill>
                <a:cs typeface="Times New Roman" panose="02020603050405020304" pitchFamily="18" charset="0"/>
              </a:rPr>
              <a:t>wT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’, ‘w’ will be popped from the stack] w is string over {</a:t>
            </a:r>
            <a:r>
              <a:rPr lang="en-US" altLang="en-US" dirty="0" err="1" smtClean="0">
                <a:solidFill>
                  <a:srgbClr val="FF0000"/>
                </a:solidFill>
                <a:cs typeface="Times New Roman" panose="02020603050405020304" pitchFamily="18" charset="0"/>
              </a:rPr>
              <a:t>a,b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}</a:t>
            </a:r>
          </a:p>
          <a:p>
            <a:endParaRPr lang="en-GB" dirty="0" smtClean="0"/>
          </a:p>
          <a:p>
            <a:pPr marL="0" indent="0">
              <a:buNone/>
            </a:pPr>
            <a:r>
              <a:rPr lang="en-GB" i="1" dirty="0" smtClean="0"/>
              <a:t>A </a:t>
            </a:r>
            <a:r>
              <a:rPr lang="en-GB" dirty="0"/>
              <a:t>= ({</a:t>
            </a:r>
            <a:r>
              <a:rPr lang="en-GB" dirty="0" err="1" smtClean="0"/>
              <a:t>qo</a:t>
            </a:r>
            <a:r>
              <a:rPr lang="en-GB" dirty="0" smtClean="0"/>
              <a:t>, q1, </a:t>
            </a:r>
            <a:r>
              <a:rPr lang="en-GB" i="1" dirty="0" err="1" smtClean="0"/>
              <a:t>qf</a:t>
            </a:r>
            <a:r>
              <a:rPr lang="en-GB" i="1" dirty="0" smtClean="0"/>
              <a:t>}, </a:t>
            </a:r>
            <a:r>
              <a:rPr lang="en-GB" i="1" dirty="0"/>
              <a:t>{</a:t>
            </a:r>
            <a:r>
              <a:rPr lang="en-GB" i="1" dirty="0" smtClean="0"/>
              <a:t>a, </a:t>
            </a:r>
            <a:r>
              <a:rPr lang="en-GB" i="1" dirty="0" err="1" smtClean="0"/>
              <a:t>b,c</a:t>
            </a:r>
            <a:r>
              <a:rPr lang="en-GB" dirty="0" smtClean="0"/>
              <a:t>}, </a:t>
            </a:r>
            <a:r>
              <a:rPr lang="en-GB" i="1" dirty="0"/>
              <a:t>{</a:t>
            </a:r>
            <a:r>
              <a:rPr lang="en-GB" i="1" dirty="0" smtClean="0"/>
              <a:t>a, b, </a:t>
            </a:r>
            <a:r>
              <a:rPr lang="en-GB" dirty="0"/>
              <a:t>zo}, </a:t>
            </a:r>
            <a:r>
              <a:rPr lang="el-GR" dirty="0" smtClean="0"/>
              <a:t>δ</a:t>
            </a:r>
            <a:r>
              <a:rPr lang="en-GB" dirty="0" smtClean="0"/>
              <a:t>, </a:t>
            </a:r>
            <a:r>
              <a:rPr lang="en-GB" dirty="0" err="1" smtClean="0"/>
              <a:t>qo</a:t>
            </a:r>
            <a:r>
              <a:rPr lang="en-GB" dirty="0"/>
              <a:t>,</a:t>
            </a:r>
            <a:r>
              <a:rPr lang="en-GB" dirty="0" smtClean="0"/>
              <a:t> Zo, </a:t>
            </a:r>
            <a:r>
              <a:rPr lang="en-GB" i="1" dirty="0"/>
              <a:t>{</a:t>
            </a:r>
            <a:r>
              <a:rPr lang="en-GB" i="1" dirty="0" err="1" smtClean="0"/>
              <a:t>qf</a:t>
            </a:r>
            <a:r>
              <a:rPr lang="en-GB" i="1" dirty="0" smtClean="0"/>
              <a:t>}) where </a:t>
            </a:r>
            <a:r>
              <a:rPr lang="el-GR" dirty="0" smtClean="0"/>
              <a:t>δ</a:t>
            </a:r>
            <a:r>
              <a:rPr lang="en-GB" dirty="0" smtClean="0"/>
              <a:t> is given below</a:t>
            </a:r>
            <a:endParaRPr lang="en-GB" i="1" dirty="0" smtClean="0"/>
          </a:p>
          <a:p>
            <a:r>
              <a:rPr lang="el-GR" dirty="0" smtClean="0"/>
              <a:t>δ(</a:t>
            </a:r>
            <a:r>
              <a:rPr lang="en-GB" dirty="0" smtClean="0"/>
              <a:t>q0, a, Z0) = {(q0, aZ0)}.[</a:t>
            </a:r>
            <a:r>
              <a:rPr lang="en-GB" dirty="0" smtClean="0">
                <a:solidFill>
                  <a:srgbClr val="FF0000"/>
                </a:solidFill>
              </a:rPr>
              <a:t>first ‘a’ is pushed in the stack</a:t>
            </a:r>
            <a:r>
              <a:rPr lang="en-GB" dirty="0" smtClean="0"/>
              <a:t>]</a:t>
            </a:r>
          </a:p>
          <a:p>
            <a:r>
              <a:rPr lang="en-GB" dirty="0" smtClean="0"/>
              <a:t> </a:t>
            </a:r>
            <a:r>
              <a:rPr lang="el-GR" dirty="0" smtClean="0"/>
              <a:t>δ(</a:t>
            </a:r>
            <a:r>
              <a:rPr lang="en-GB" dirty="0" smtClean="0"/>
              <a:t>q0, a, a) = {(q0, aa)}. [</a:t>
            </a:r>
            <a:r>
              <a:rPr lang="en-GB" dirty="0" smtClean="0">
                <a:solidFill>
                  <a:srgbClr val="FF0000"/>
                </a:solidFill>
              </a:rPr>
              <a:t>Subsequent a’s pushed in the stack</a:t>
            </a:r>
            <a:r>
              <a:rPr lang="en-GB" dirty="0" smtClean="0"/>
              <a:t>]</a:t>
            </a:r>
          </a:p>
          <a:p>
            <a:r>
              <a:rPr lang="el-GR" dirty="0"/>
              <a:t>δ(</a:t>
            </a:r>
            <a:r>
              <a:rPr lang="en-GB" dirty="0"/>
              <a:t>q0, </a:t>
            </a:r>
            <a:r>
              <a:rPr lang="en-GB" dirty="0" smtClean="0"/>
              <a:t>b, </a:t>
            </a:r>
            <a:r>
              <a:rPr lang="en-GB" dirty="0"/>
              <a:t>Z0) = {(q0, </a:t>
            </a:r>
            <a:r>
              <a:rPr lang="en-GB" dirty="0" smtClean="0"/>
              <a:t>bZ0</a:t>
            </a:r>
            <a:r>
              <a:rPr lang="en-GB" dirty="0"/>
              <a:t>)}.[</a:t>
            </a:r>
            <a:r>
              <a:rPr lang="en-GB" dirty="0">
                <a:solidFill>
                  <a:srgbClr val="FF0000"/>
                </a:solidFill>
              </a:rPr>
              <a:t>first </a:t>
            </a:r>
            <a:r>
              <a:rPr lang="en-GB" dirty="0" smtClean="0">
                <a:solidFill>
                  <a:srgbClr val="FF0000"/>
                </a:solidFill>
              </a:rPr>
              <a:t>‘</a:t>
            </a:r>
            <a:r>
              <a:rPr lang="en-GB" dirty="0" err="1" smtClean="0">
                <a:solidFill>
                  <a:srgbClr val="FF0000"/>
                </a:solidFill>
              </a:rPr>
              <a:t>b’is</a:t>
            </a:r>
            <a:r>
              <a:rPr lang="en-GB" dirty="0" smtClean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rgbClr val="FF0000"/>
                </a:solidFill>
              </a:rPr>
              <a:t>pushed in the stack</a:t>
            </a:r>
            <a:r>
              <a:rPr lang="en-GB" dirty="0"/>
              <a:t>]</a:t>
            </a:r>
          </a:p>
          <a:p>
            <a:r>
              <a:rPr lang="en-GB" dirty="0"/>
              <a:t> </a:t>
            </a:r>
            <a:r>
              <a:rPr lang="el-GR" dirty="0"/>
              <a:t>δ(</a:t>
            </a:r>
            <a:r>
              <a:rPr lang="en-GB" dirty="0"/>
              <a:t>q0, </a:t>
            </a:r>
            <a:r>
              <a:rPr lang="en-GB" dirty="0" smtClean="0"/>
              <a:t>b, b) </a:t>
            </a:r>
            <a:r>
              <a:rPr lang="en-GB" dirty="0"/>
              <a:t>= {(q0, </a:t>
            </a:r>
            <a:r>
              <a:rPr lang="en-GB" dirty="0" smtClean="0"/>
              <a:t>bb)}. </a:t>
            </a:r>
            <a:r>
              <a:rPr lang="en-GB" dirty="0"/>
              <a:t>[</a:t>
            </a:r>
            <a:r>
              <a:rPr lang="en-GB" dirty="0">
                <a:solidFill>
                  <a:srgbClr val="FF0000"/>
                </a:solidFill>
              </a:rPr>
              <a:t>Subsequent </a:t>
            </a:r>
            <a:r>
              <a:rPr lang="en-GB" dirty="0" smtClean="0">
                <a:solidFill>
                  <a:srgbClr val="FF0000"/>
                </a:solidFill>
              </a:rPr>
              <a:t>‘b’s </a:t>
            </a:r>
            <a:r>
              <a:rPr lang="en-GB" dirty="0">
                <a:solidFill>
                  <a:srgbClr val="FF0000"/>
                </a:solidFill>
              </a:rPr>
              <a:t>pushed in the stack</a:t>
            </a:r>
            <a:r>
              <a:rPr lang="en-GB" dirty="0" smtClean="0"/>
              <a:t>]</a:t>
            </a:r>
          </a:p>
          <a:p>
            <a:pPr marL="0" indent="0">
              <a:buNone/>
            </a:pPr>
            <a:r>
              <a:rPr lang="en-GB" dirty="0" smtClean="0"/>
              <a:t>[</a:t>
            </a:r>
            <a:r>
              <a:rPr lang="en-GB" dirty="0" smtClean="0">
                <a:solidFill>
                  <a:srgbClr val="FF0000"/>
                </a:solidFill>
              </a:rPr>
              <a:t>Above 4 rules  </a:t>
            </a:r>
            <a:r>
              <a:rPr lang="en-GB" dirty="0">
                <a:solidFill>
                  <a:srgbClr val="FF0000"/>
                </a:solidFill>
              </a:rPr>
              <a:t>will be used for handling </a:t>
            </a:r>
            <a:r>
              <a:rPr lang="en-GB" dirty="0" smtClean="0">
                <a:solidFill>
                  <a:srgbClr val="FF0000"/>
                </a:solidFill>
              </a:rPr>
              <a:t>input string ‘w’</a:t>
            </a:r>
            <a:r>
              <a:rPr lang="en-GB" dirty="0" smtClean="0"/>
              <a:t>]</a:t>
            </a:r>
            <a:endParaRPr lang="en-GB" dirty="0"/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132" y="2752853"/>
            <a:ext cx="3654901" cy="41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96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034"/>
          </a:xfrm>
        </p:spPr>
        <p:txBody>
          <a:bodyPr/>
          <a:lstStyle/>
          <a:p>
            <a:r>
              <a:rPr lang="en-GB" dirty="0"/>
              <a:t>Example </a:t>
            </a:r>
            <a:r>
              <a:rPr lang="en-GB" dirty="0" smtClean="0"/>
              <a:t>PDA Conti…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172" y="1177160"/>
            <a:ext cx="10670628" cy="49998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 smtClean="0"/>
              <a:t>[</a:t>
            </a:r>
            <a:r>
              <a:rPr lang="en-GB" dirty="0" smtClean="0">
                <a:solidFill>
                  <a:srgbClr val="FF0000"/>
                </a:solidFill>
              </a:rPr>
              <a:t>Following 3 rules  will be used for handling input symbol ‘c</a:t>
            </a:r>
            <a:r>
              <a:rPr lang="en-GB" dirty="0" smtClean="0"/>
              <a:t>’]</a:t>
            </a:r>
            <a:endParaRPr lang="en-GB" dirty="0"/>
          </a:p>
          <a:p>
            <a:r>
              <a:rPr lang="el-GR" dirty="0" smtClean="0"/>
              <a:t>δ(</a:t>
            </a:r>
            <a:r>
              <a:rPr lang="en-GB" dirty="0"/>
              <a:t>q0, c, Z0) = {(q1, Z0)}.[</a:t>
            </a:r>
            <a:r>
              <a:rPr lang="en-GB" dirty="0">
                <a:solidFill>
                  <a:srgbClr val="FF0000"/>
                </a:solidFill>
              </a:rPr>
              <a:t>this rule will be used when ‘w’ and obviously  ‘</a:t>
            </a:r>
            <a:r>
              <a:rPr lang="en-GB" dirty="0" err="1">
                <a:solidFill>
                  <a:srgbClr val="FF0000"/>
                </a:solidFill>
              </a:rPr>
              <a:t>wT</a:t>
            </a:r>
            <a:r>
              <a:rPr lang="en-GB" dirty="0">
                <a:solidFill>
                  <a:srgbClr val="FF0000"/>
                </a:solidFill>
              </a:rPr>
              <a:t>’ is null</a:t>
            </a:r>
            <a:r>
              <a:rPr lang="en-GB" dirty="0"/>
              <a:t>]</a:t>
            </a:r>
          </a:p>
          <a:p>
            <a:r>
              <a:rPr lang="en-GB" dirty="0"/>
              <a:t> </a:t>
            </a:r>
            <a:r>
              <a:rPr lang="el-GR" dirty="0"/>
              <a:t>δ(</a:t>
            </a:r>
            <a:r>
              <a:rPr lang="en-GB" dirty="0"/>
              <a:t>q0, </a:t>
            </a:r>
            <a:r>
              <a:rPr lang="en-GB" dirty="0" smtClean="0"/>
              <a:t>c, a) </a:t>
            </a:r>
            <a:r>
              <a:rPr lang="en-GB" dirty="0"/>
              <a:t>= {(q1, </a:t>
            </a:r>
            <a:r>
              <a:rPr lang="en-GB" dirty="0" smtClean="0"/>
              <a:t>a)}</a:t>
            </a:r>
          </a:p>
          <a:p>
            <a:r>
              <a:rPr lang="en-GB" dirty="0"/>
              <a:t> </a:t>
            </a:r>
            <a:r>
              <a:rPr lang="el-GR" dirty="0"/>
              <a:t>δ(</a:t>
            </a:r>
            <a:r>
              <a:rPr lang="en-GB" dirty="0"/>
              <a:t>q0, c, </a:t>
            </a:r>
            <a:r>
              <a:rPr lang="en-GB" dirty="0" smtClean="0"/>
              <a:t>b) </a:t>
            </a:r>
            <a:r>
              <a:rPr lang="en-GB" dirty="0"/>
              <a:t>= {(q1, </a:t>
            </a:r>
            <a:r>
              <a:rPr lang="en-GB" dirty="0" smtClean="0"/>
              <a:t>b)}</a:t>
            </a:r>
          </a:p>
          <a:p>
            <a:pPr marL="0" indent="0">
              <a:buNone/>
            </a:pPr>
            <a:r>
              <a:rPr lang="el-GR" dirty="0" smtClean="0"/>
              <a:t>δ(</a:t>
            </a:r>
            <a:r>
              <a:rPr lang="en-GB" dirty="0" smtClean="0"/>
              <a:t>q1, </a:t>
            </a:r>
            <a:r>
              <a:rPr lang="en-GB" dirty="0"/>
              <a:t>a, a) = </a:t>
            </a:r>
            <a:r>
              <a:rPr lang="en-GB" dirty="0" smtClean="0"/>
              <a:t>(</a:t>
            </a:r>
            <a:r>
              <a:rPr lang="en-GB" dirty="0" smtClean="0"/>
              <a:t>q1, </a:t>
            </a:r>
            <a:r>
              <a:rPr lang="el-GR" dirty="0"/>
              <a:t>ε</a:t>
            </a:r>
            <a:r>
              <a:rPr lang="en-GB" dirty="0" smtClean="0"/>
              <a:t>) [</a:t>
            </a:r>
            <a:r>
              <a:rPr lang="en-US" dirty="0">
                <a:solidFill>
                  <a:srgbClr val="FF0000"/>
                </a:solidFill>
              </a:rPr>
              <a:t>PDA </a:t>
            </a:r>
            <a:r>
              <a:rPr lang="en-US" dirty="0" smtClean="0">
                <a:solidFill>
                  <a:srgbClr val="FF0000"/>
                </a:solidFill>
              </a:rPr>
              <a:t>erases </a:t>
            </a:r>
            <a:r>
              <a:rPr lang="en-US" dirty="0">
                <a:solidFill>
                  <a:srgbClr val="FF0000"/>
                </a:solidFill>
              </a:rPr>
              <a:t>the topmost symbol if it coincides </a:t>
            </a:r>
            <a:r>
              <a:rPr lang="en-US" dirty="0" smtClean="0">
                <a:solidFill>
                  <a:srgbClr val="FF0000"/>
                </a:solidFill>
              </a:rPr>
              <a:t>with </a:t>
            </a:r>
            <a:r>
              <a:rPr lang="en-GB" dirty="0" smtClean="0">
                <a:solidFill>
                  <a:srgbClr val="FF0000"/>
                </a:solidFill>
              </a:rPr>
              <a:t>the </a:t>
            </a:r>
            <a:r>
              <a:rPr lang="en-GB" dirty="0">
                <a:solidFill>
                  <a:srgbClr val="FF0000"/>
                </a:solidFill>
              </a:rPr>
              <a:t>current input symbol</a:t>
            </a:r>
            <a:r>
              <a:rPr lang="en-GB" dirty="0" smtClean="0"/>
              <a:t>]</a:t>
            </a:r>
            <a:endParaRPr lang="en-GB" dirty="0"/>
          </a:p>
          <a:p>
            <a:r>
              <a:rPr lang="el-GR" dirty="0"/>
              <a:t>δ(</a:t>
            </a:r>
            <a:r>
              <a:rPr lang="en-GB" dirty="0" smtClean="0"/>
              <a:t>q1,b, b) </a:t>
            </a:r>
            <a:r>
              <a:rPr lang="en-GB" dirty="0"/>
              <a:t>= (q1, </a:t>
            </a:r>
            <a:r>
              <a:rPr lang="el-GR" dirty="0"/>
              <a:t>ε</a:t>
            </a:r>
            <a:r>
              <a:rPr lang="en-GB" dirty="0" smtClean="0"/>
              <a:t>)  [</a:t>
            </a:r>
            <a:r>
              <a:rPr lang="en-US" dirty="0">
                <a:solidFill>
                  <a:srgbClr val="FF0000"/>
                </a:solidFill>
              </a:rPr>
              <a:t>PDA </a:t>
            </a:r>
            <a:r>
              <a:rPr lang="en-US" dirty="0" smtClean="0">
                <a:solidFill>
                  <a:srgbClr val="FF0000"/>
                </a:solidFill>
              </a:rPr>
              <a:t>erases </a:t>
            </a:r>
            <a:r>
              <a:rPr lang="en-US" dirty="0">
                <a:solidFill>
                  <a:srgbClr val="FF0000"/>
                </a:solidFill>
              </a:rPr>
              <a:t>the topmost symbol if it coincides with </a:t>
            </a:r>
            <a:r>
              <a:rPr lang="en-GB" dirty="0">
                <a:solidFill>
                  <a:srgbClr val="FF0000"/>
                </a:solidFill>
              </a:rPr>
              <a:t>the current input </a:t>
            </a:r>
            <a:r>
              <a:rPr lang="en-GB" dirty="0" smtClean="0">
                <a:solidFill>
                  <a:srgbClr val="FF0000"/>
                </a:solidFill>
              </a:rPr>
              <a:t>symbol]</a:t>
            </a:r>
            <a:endParaRPr lang="en-GB" dirty="0"/>
          </a:p>
          <a:p>
            <a:r>
              <a:rPr lang="el-GR" dirty="0"/>
              <a:t>δ(</a:t>
            </a:r>
            <a:r>
              <a:rPr lang="en-GB" dirty="0"/>
              <a:t>q1, </a:t>
            </a:r>
            <a:r>
              <a:rPr lang="el-GR" dirty="0"/>
              <a:t>ε, </a:t>
            </a:r>
            <a:r>
              <a:rPr lang="en-GB" dirty="0"/>
              <a:t>Z0) = {(</a:t>
            </a:r>
            <a:r>
              <a:rPr lang="en-GB" dirty="0" err="1" smtClean="0"/>
              <a:t>qf</a:t>
            </a:r>
            <a:r>
              <a:rPr lang="en-GB" dirty="0" smtClean="0"/>
              <a:t> , </a:t>
            </a:r>
            <a:r>
              <a:rPr lang="en-GB" dirty="0"/>
              <a:t>Z0</a:t>
            </a:r>
            <a:r>
              <a:rPr lang="en-GB" dirty="0" smtClean="0"/>
              <a:t>)}[</a:t>
            </a:r>
            <a:r>
              <a:rPr lang="en-US" dirty="0" smtClean="0">
                <a:solidFill>
                  <a:srgbClr val="FF0000"/>
                </a:solidFill>
              </a:rPr>
              <a:t>PDA reaches </a:t>
            </a:r>
            <a:r>
              <a:rPr lang="en-US" dirty="0">
                <a:solidFill>
                  <a:srgbClr val="FF0000"/>
                </a:solidFill>
              </a:rPr>
              <a:t>the final state </a:t>
            </a:r>
            <a:r>
              <a:rPr lang="en-GB" dirty="0" err="1">
                <a:solidFill>
                  <a:srgbClr val="FF0000"/>
                </a:solidFill>
              </a:rPr>
              <a:t>qf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only when the input string </a:t>
            </a:r>
            <a:r>
              <a:rPr lang="en-US" dirty="0" smtClean="0">
                <a:solidFill>
                  <a:srgbClr val="FF0000"/>
                </a:solidFill>
              </a:rPr>
              <a:t>is exhausted </a:t>
            </a:r>
            <a:r>
              <a:rPr lang="en-US" dirty="0">
                <a:solidFill>
                  <a:srgbClr val="FF0000"/>
                </a:solidFill>
              </a:rPr>
              <a:t>and then the PDS has only </a:t>
            </a:r>
            <a:r>
              <a:rPr lang="en-GB" dirty="0" smtClean="0">
                <a:solidFill>
                  <a:srgbClr val="FF0000"/>
                </a:solidFill>
              </a:rPr>
              <a:t>Z0</a:t>
            </a:r>
            <a:r>
              <a:rPr lang="en-GB" dirty="0" smtClean="0"/>
              <a:t>]</a:t>
            </a:r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16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Validity Testing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the  example </a:t>
            </a:r>
            <a:r>
              <a:rPr lang="en-US" dirty="0" smtClean="0"/>
              <a:t>{x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=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wcw</a:t>
            </a:r>
            <a:r>
              <a:rPr lang="en-US" altLang="en-US" baseline="30000" dirty="0" err="1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r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 and 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w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 in {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a,b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}*, </a:t>
            </a:r>
            <a:r>
              <a:rPr lang="en-US" dirty="0" smtClean="0"/>
              <a:t>} </a:t>
            </a:r>
            <a:r>
              <a:rPr lang="en-GB" dirty="0"/>
              <a:t>PDA. we can describe the sequence of moves by:</a:t>
            </a:r>
          </a:p>
          <a:p>
            <a:r>
              <a:rPr lang="en-GB" dirty="0"/>
              <a:t> (</a:t>
            </a:r>
            <a:r>
              <a:rPr lang="en-GB" dirty="0" smtClean="0"/>
              <a:t>q0, </a:t>
            </a:r>
            <a:r>
              <a:rPr lang="en-GB" dirty="0" err="1" smtClean="0"/>
              <a:t>abcba</a:t>
            </a:r>
            <a:r>
              <a:rPr lang="en-GB" dirty="0" smtClean="0"/>
              <a:t>, </a:t>
            </a:r>
            <a:r>
              <a:rPr lang="en-GB" dirty="0"/>
              <a:t>Z0)⊦(</a:t>
            </a:r>
            <a:r>
              <a:rPr lang="en-GB" dirty="0" smtClean="0"/>
              <a:t>q0, </a:t>
            </a:r>
            <a:r>
              <a:rPr lang="en-GB" dirty="0" err="1" smtClean="0"/>
              <a:t>bcba</a:t>
            </a:r>
            <a:r>
              <a:rPr lang="en-GB" dirty="0" smtClean="0"/>
              <a:t>, aZ0</a:t>
            </a:r>
            <a:r>
              <a:rPr lang="en-GB" dirty="0"/>
              <a:t>)⊦ (</a:t>
            </a:r>
            <a:r>
              <a:rPr lang="en-GB" dirty="0" smtClean="0"/>
              <a:t>q0, </a:t>
            </a:r>
            <a:r>
              <a:rPr lang="en-GB" dirty="0" err="1" smtClean="0"/>
              <a:t>cba</a:t>
            </a:r>
            <a:r>
              <a:rPr lang="en-GB" dirty="0" smtClean="0"/>
              <a:t>, baZ0</a:t>
            </a:r>
            <a:r>
              <a:rPr lang="en-GB" dirty="0"/>
              <a:t>)⊦(</a:t>
            </a:r>
            <a:r>
              <a:rPr lang="en-GB" dirty="0" smtClean="0"/>
              <a:t>q0, </a:t>
            </a:r>
            <a:r>
              <a:rPr lang="en-GB" dirty="0" err="1" smtClean="0"/>
              <a:t>cba</a:t>
            </a:r>
            <a:r>
              <a:rPr lang="en-GB" dirty="0" smtClean="0"/>
              <a:t>, </a:t>
            </a:r>
            <a:r>
              <a:rPr lang="en-GB" dirty="0"/>
              <a:t>baZ0</a:t>
            </a:r>
            <a:r>
              <a:rPr lang="en-GB" dirty="0" smtClean="0"/>
              <a:t>)</a:t>
            </a:r>
            <a:r>
              <a:rPr lang="en-GB" dirty="0"/>
              <a:t>⊦ 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(q1, </a:t>
            </a:r>
            <a:r>
              <a:rPr lang="en-GB" dirty="0"/>
              <a:t>, </a:t>
            </a:r>
            <a:r>
              <a:rPr lang="en-GB" dirty="0" err="1" smtClean="0"/>
              <a:t>ba</a:t>
            </a:r>
            <a:r>
              <a:rPr lang="en-GB" dirty="0" smtClean="0"/>
              <a:t>, </a:t>
            </a:r>
            <a:r>
              <a:rPr lang="en-GB" dirty="0"/>
              <a:t>baZ0</a:t>
            </a:r>
            <a:r>
              <a:rPr lang="en-GB" dirty="0" smtClean="0"/>
              <a:t>)⊦</a:t>
            </a:r>
            <a:r>
              <a:rPr lang="en-GB" dirty="0"/>
              <a:t> (q1, </a:t>
            </a:r>
            <a:r>
              <a:rPr lang="en-GB" dirty="0" smtClean="0"/>
              <a:t>a</a:t>
            </a:r>
            <a:r>
              <a:rPr lang="en-GB" dirty="0"/>
              <a:t>, </a:t>
            </a:r>
            <a:r>
              <a:rPr lang="en-GB" dirty="0" smtClean="0"/>
              <a:t>aZ0</a:t>
            </a:r>
            <a:r>
              <a:rPr lang="en-GB" dirty="0"/>
              <a:t>) </a:t>
            </a:r>
            <a:r>
              <a:rPr lang="en-GB" dirty="0" smtClean="0"/>
              <a:t>⊦</a:t>
            </a:r>
            <a:r>
              <a:rPr lang="en-GB" dirty="0"/>
              <a:t> (q1</a:t>
            </a:r>
            <a:r>
              <a:rPr lang="en-GB" dirty="0" smtClean="0"/>
              <a:t>, </a:t>
            </a:r>
            <a:r>
              <a:rPr lang="el-GR" dirty="0"/>
              <a:t>ε</a:t>
            </a:r>
            <a:r>
              <a:rPr lang="en-GB" dirty="0" smtClean="0"/>
              <a:t>, Z0</a:t>
            </a:r>
            <a:r>
              <a:rPr lang="en-GB" dirty="0"/>
              <a:t>) </a:t>
            </a:r>
            <a:r>
              <a:rPr lang="en-GB" dirty="0" smtClean="0"/>
              <a:t>⊦ (</a:t>
            </a:r>
            <a:r>
              <a:rPr lang="en-GB" dirty="0" err="1" smtClean="0"/>
              <a:t>qf</a:t>
            </a:r>
            <a:r>
              <a:rPr lang="en-GB" dirty="0"/>
              <a:t>, </a:t>
            </a:r>
            <a:r>
              <a:rPr lang="el-GR" dirty="0"/>
              <a:t>ε, </a:t>
            </a:r>
            <a:r>
              <a:rPr lang="en-GB" dirty="0"/>
              <a:t>Z0) </a:t>
            </a:r>
          </a:p>
          <a:p>
            <a:r>
              <a:rPr lang="en-GB" dirty="0"/>
              <a:t>Thus, </a:t>
            </a:r>
            <a:r>
              <a:rPr lang="en-GB" dirty="0" smtClean="0"/>
              <a:t>(</a:t>
            </a:r>
            <a:r>
              <a:rPr lang="en-GB" dirty="0"/>
              <a:t>q0, </a:t>
            </a:r>
            <a:r>
              <a:rPr lang="en-GB" dirty="0" err="1"/>
              <a:t>abcba</a:t>
            </a:r>
            <a:r>
              <a:rPr lang="en-GB" dirty="0"/>
              <a:t>, Z0</a:t>
            </a:r>
            <a:r>
              <a:rPr lang="en-GB" dirty="0" smtClean="0"/>
              <a:t>)</a:t>
            </a:r>
            <a:r>
              <a:rPr lang="en-GB" dirty="0"/>
              <a:t>⊦</a:t>
            </a:r>
            <a:r>
              <a:rPr lang="en-GB" dirty="0" smtClean="0"/>
              <a:t>*(</a:t>
            </a:r>
            <a:r>
              <a:rPr lang="en-GB" dirty="0" err="1"/>
              <a:t>qf</a:t>
            </a:r>
            <a:r>
              <a:rPr lang="en-GB" dirty="0"/>
              <a:t>, </a:t>
            </a:r>
            <a:r>
              <a:rPr lang="el-GR" dirty="0"/>
              <a:t>ε, </a:t>
            </a:r>
            <a:r>
              <a:rPr lang="en-GB" dirty="0"/>
              <a:t>Z0</a:t>
            </a:r>
            <a:r>
              <a:rPr lang="en-GB" dirty="0" smtClean="0"/>
              <a:t>). </a:t>
            </a:r>
          </a:p>
          <a:p>
            <a:r>
              <a:rPr lang="en-GB" dirty="0" smtClean="0"/>
              <a:t>So input  string ‘</a:t>
            </a:r>
            <a:r>
              <a:rPr lang="en-GB" dirty="0" err="1" smtClean="0"/>
              <a:t>abcba</a:t>
            </a:r>
            <a:r>
              <a:rPr lang="en-GB" dirty="0" smtClean="0"/>
              <a:t>’ is accepted by PDA</a:t>
            </a:r>
            <a:endParaRPr lang="en-GB" dirty="0"/>
          </a:p>
          <a:p>
            <a:r>
              <a:rPr lang="en-GB" dirty="0"/>
              <a:t>What would happen on input </a:t>
            </a:r>
            <a:r>
              <a:rPr lang="en-GB" dirty="0" err="1" smtClean="0"/>
              <a:t>aacbb</a:t>
            </a:r>
            <a:r>
              <a:rPr lang="en-GB" dirty="0" smtClean="0"/>
              <a:t>?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639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Validity Testing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Answer</a:t>
            </a:r>
          </a:p>
          <a:p>
            <a:r>
              <a:rPr lang="en-GB" dirty="0" smtClean="0"/>
              <a:t> </a:t>
            </a:r>
            <a:r>
              <a:rPr lang="en-GB" dirty="0"/>
              <a:t>(</a:t>
            </a:r>
            <a:r>
              <a:rPr lang="en-GB" dirty="0" smtClean="0"/>
              <a:t>q0, </a:t>
            </a:r>
            <a:r>
              <a:rPr lang="en-GB" dirty="0" err="1" smtClean="0"/>
              <a:t>aacbb</a:t>
            </a:r>
            <a:r>
              <a:rPr lang="en-GB" dirty="0" smtClean="0"/>
              <a:t>, </a:t>
            </a:r>
            <a:r>
              <a:rPr lang="en-GB" dirty="0"/>
              <a:t>Z0)⊦</a:t>
            </a:r>
            <a:r>
              <a:rPr lang="en-GB" dirty="0" smtClean="0"/>
              <a:t>(</a:t>
            </a:r>
            <a:r>
              <a:rPr lang="en-GB" dirty="0"/>
              <a:t>q0, </a:t>
            </a:r>
            <a:r>
              <a:rPr lang="en-GB" dirty="0" err="1" smtClean="0"/>
              <a:t>acbb</a:t>
            </a:r>
            <a:r>
              <a:rPr lang="en-GB" dirty="0"/>
              <a:t>, </a:t>
            </a:r>
            <a:r>
              <a:rPr lang="en-GB" dirty="0" smtClean="0"/>
              <a:t>aZ0)</a:t>
            </a:r>
            <a:r>
              <a:rPr lang="en-GB" dirty="0"/>
              <a:t>⊦ </a:t>
            </a:r>
            <a:r>
              <a:rPr lang="en-GB" dirty="0" smtClean="0"/>
              <a:t>(q0, </a:t>
            </a:r>
            <a:r>
              <a:rPr lang="en-GB" dirty="0" err="1" smtClean="0"/>
              <a:t>cbb</a:t>
            </a:r>
            <a:r>
              <a:rPr lang="en-GB" dirty="0" smtClean="0"/>
              <a:t>, aaZ0)⊦(q1, bb</a:t>
            </a:r>
            <a:r>
              <a:rPr lang="en-GB" dirty="0"/>
              <a:t>, aaZ0</a:t>
            </a:r>
            <a:r>
              <a:rPr lang="en-GB" dirty="0" smtClean="0"/>
              <a:t>)</a:t>
            </a:r>
            <a:r>
              <a:rPr lang="en-GB" dirty="0"/>
              <a:t>⊦ 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(q1, </a:t>
            </a:r>
            <a:r>
              <a:rPr lang="en-GB" dirty="0"/>
              <a:t>, </a:t>
            </a:r>
            <a:r>
              <a:rPr lang="en-GB" dirty="0" smtClean="0"/>
              <a:t>bb, aaZ0)⊦</a:t>
            </a:r>
            <a:r>
              <a:rPr lang="en-GB" dirty="0"/>
              <a:t> </a:t>
            </a:r>
            <a:endParaRPr lang="en-GB" dirty="0" smtClean="0"/>
          </a:p>
          <a:p>
            <a:endParaRPr lang="en-GB" dirty="0"/>
          </a:p>
          <a:p>
            <a:r>
              <a:rPr lang="en-GB" dirty="0"/>
              <a:t> Note the last ID has no move. </a:t>
            </a:r>
          </a:p>
          <a:p>
            <a:r>
              <a:rPr lang="en-GB" dirty="0" smtClean="0"/>
              <a:t> so  input ‘</a:t>
            </a:r>
            <a:r>
              <a:rPr lang="en-GB" dirty="0" err="1" smtClean="0"/>
              <a:t>aacbb</a:t>
            </a:r>
            <a:r>
              <a:rPr lang="en-GB" dirty="0" smtClean="0"/>
              <a:t>’ </a:t>
            </a:r>
            <a:r>
              <a:rPr lang="en-GB" dirty="0"/>
              <a:t>is not accepted, because the input is not completely consumed.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324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"/>
            <a:ext cx="10639097" cy="1818290"/>
          </a:xfrm>
        </p:spPr>
        <p:txBody>
          <a:bodyPr/>
          <a:lstStyle/>
          <a:p>
            <a:r>
              <a:rPr lang="en-GB" dirty="0" smtClean="0"/>
              <a:t>Acceptance by Final state example 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5999" y="1185863"/>
            <a:ext cx="5591175" cy="504825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756745" y="1481959"/>
            <a:ext cx="10857186" cy="508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Design a PDA 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For the  above language by final state</a:t>
            </a:r>
          </a:p>
          <a:p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 [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Note: Design strategy is all ‘a’ s will be pushed in the stack, 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all ‘b’ s will be rejected PDA will change the state to remember b is encountered and trailing ‘a’s  will be popped from the stack]</a:t>
            </a:r>
            <a:endParaRPr lang="en-GB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i="1" dirty="0" smtClean="0"/>
              <a:t>A </a:t>
            </a:r>
            <a:r>
              <a:rPr lang="en-GB" dirty="0" smtClean="0"/>
              <a:t>= ({</a:t>
            </a:r>
            <a:r>
              <a:rPr lang="en-GB" dirty="0" err="1" smtClean="0"/>
              <a:t>qo</a:t>
            </a:r>
            <a:r>
              <a:rPr lang="en-GB" dirty="0" smtClean="0"/>
              <a:t>, q1, </a:t>
            </a:r>
            <a:r>
              <a:rPr lang="en-GB" i="1" dirty="0" err="1" smtClean="0"/>
              <a:t>qf</a:t>
            </a:r>
            <a:r>
              <a:rPr lang="en-GB" i="1" dirty="0" smtClean="0"/>
              <a:t>}, {a, b</a:t>
            </a:r>
            <a:r>
              <a:rPr lang="en-GB" dirty="0" smtClean="0"/>
              <a:t>}, </a:t>
            </a:r>
            <a:r>
              <a:rPr lang="en-GB" i="1" dirty="0" smtClean="0"/>
              <a:t>{a,  </a:t>
            </a:r>
            <a:r>
              <a:rPr lang="en-GB" dirty="0" smtClean="0"/>
              <a:t>zo}, </a:t>
            </a:r>
            <a:r>
              <a:rPr lang="el-GR" dirty="0" smtClean="0"/>
              <a:t>δ</a:t>
            </a:r>
            <a:r>
              <a:rPr lang="en-GB" dirty="0" smtClean="0"/>
              <a:t>, </a:t>
            </a:r>
            <a:r>
              <a:rPr lang="en-GB" dirty="0" err="1" smtClean="0"/>
              <a:t>qo</a:t>
            </a:r>
            <a:r>
              <a:rPr lang="en-GB" dirty="0" smtClean="0"/>
              <a:t>, Zo, </a:t>
            </a:r>
            <a:r>
              <a:rPr lang="en-GB" i="1" dirty="0" smtClean="0"/>
              <a:t>{</a:t>
            </a:r>
            <a:r>
              <a:rPr lang="en-GB" i="1" dirty="0" err="1" smtClean="0"/>
              <a:t>qf</a:t>
            </a:r>
            <a:r>
              <a:rPr lang="en-GB" i="1" dirty="0" smtClean="0"/>
              <a:t>}) where </a:t>
            </a:r>
            <a:r>
              <a:rPr lang="el-GR" dirty="0" smtClean="0"/>
              <a:t>δ</a:t>
            </a:r>
            <a:r>
              <a:rPr lang="en-GB" dirty="0" smtClean="0"/>
              <a:t> is given below</a:t>
            </a:r>
            <a:endParaRPr lang="en-GB" i="1" dirty="0" smtClean="0"/>
          </a:p>
          <a:p>
            <a:r>
              <a:rPr lang="el-GR" dirty="0" smtClean="0"/>
              <a:t>δ(</a:t>
            </a:r>
            <a:r>
              <a:rPr lang="en-GB" dirty="0" smtClean="0"/>
              <a:t>q0, a, Z0) = {(q0, aZ0)}.[</a:t>
            </a:r>
            <a:r>
              <a:rPr lang="en-GB" dirty="0" smtClean="0">
                <a:solidFill>
                  <a:srgbClr val="FF0000"/>
                </a:solidFill>
              </a:rPr>
              <a:t>first ‘a’ is pushed in the stack</a:t>
            </a:r>
            <a:r>
              <a:rPr lang="en-GB" dirty="0" smtClean="0"/>
              <a:t>]</a:t>
            </a:r>
          </a:p>
          <a:p>
            <a:r>
              <a:rPr lang="en-GB" dirty="0" smtClean="0"/>
              <a:t> </a:t>
            </a:r>
            <a:r>
              <a:rPr lang="el-GR" dirty="0" smtClean="0"/>
              <a:t>δ(</a:t>
            </a:r>
            <a:r>
              <a:rPr lang="en-GB" dirty="0" smtClean="0"/>
              <a:t>q0, a, a) = {(q0, aa)}. [</a:t>
            </a:r>
            <a:r>
              <a:rPr lang="en-GB" dirty="0" smtClean="0">
                <a:solidFill>
                  <a:srgbClr val="FF0000"/>
                </a:solidFill>
              </a:rPr>
              <a:t>Subsequent a’s pushed in the stack</a:t>
            </a:r>
            <a:r>
              <a:rPr lang="en-GB" dirty="0" smtClean="0"/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/>
              <a:t>[</a:t>
            </a:r>
            <a:r>
              <a:rPr lang="en-GB" dirty="0" smtClean="0">
                <a:solidFill>
                  <a:srgbClr val="FF0000"/>
                </a:solidFill>
              </a:rPr>
              <a:t>Above 2 rules  will be used for pushing all ‘a’ s in the stack]</a:t>
            </a:r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9320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034"/>
          </a:xfrm>
        </p:spPr>
        <p:txBody>
          <a:bodyPr/>
          <a:lstStyle/>
          <a:p>
            <a:r>
              <a:rPr lang="en-GB" dirty="0"/>
              <a:t>Example </a:t>
            </a:r>
            <a:r>
              <a:rPr lang="en-GB" dirty="0" smtClean="0"/>
              <a:t>PDA Conti…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172" y="1177160"/>
            <a:ext cx="10670628" cy="49998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[</a:t>
            </a:r>
            <a:r>
              <a:rPr lang="en-GB" dirty="0" smtClean="0">
                <a:solidFill>
                  <a:srgbClr val="FF0000"/>
                </a:solidFill>
              </a:rPr>
              <a:t>Following 2 rules  will be used for handling input ‘b’</a:t>
            </a:r>
            <a:r>
              <a:rPr lang="en-GB" dirty="0" smtClean="0"/>
              <a:t>]</a:t>
            </a:r>
            <a:endParaRPr lang="en-GB" dirty="0"/>
          </a:p>
          <a:p>
            <a:r>
              <a:rPr lang="el-GR" dirty="0" smtClean="0"/>
              <a:t>δ(</a:t>
            </a:r>
            <a:r>
              <a:rPr lang="en-GB" dirty="0"/>
              <a:t>q0, </a:t>
            </a:r>
            <a:r>
              <a:rPr lang="en-GB" dirty="0" smtClean="0"/>
              <a:t>b, a) </a:t>
            </a:r>
            <a:r>
              <a:rPr lang="en-GB" dirty="0"/>
              <a:t>= {(q1, </a:t>
            </a:r>
            <a:r>
              <a:rPr lang="en-GB" dirty="0" smtClean="0"/>
              <a:t>a)}</a:t>
            </a:r>
          </a:p>
          <a:p>
            <a:r>
              <a:rPr lang="en-GB" dirty="0"/>
              <a:t> </a:t>
            </a:r>
            <a:r>
              <a:rPr lang="el-GR" dirty="0"/>
              <a:t>δ(</a:t>
            </a:r>
            <a:r>
              <a:rPr lang="en-GB" dirty="0" smtClean="0"/>
              <a:t>q1, b, a) </a:t>
            </a:r>
            <a:r>
              <a:rPr lang="en-GB" dirty="0"/>
              <a:t>= {(q1, a</a:t>
            </a:r>
            <a:r>
              <a:rPr lang="en-GB" dirty="0" smtClean="0"/>
              <a:t>)}</a:t>
            </a:r>
          </a:p>
          <a:p>
            <a:pPr marL="0" indent="0">
              <a:buNone/>
            </a:pPr>
            <a:r>
              <a:rPr lang="el-GR" dirty="0" smtClean="0"/>
              <a:t>δ(</a:t>
            </a:r>
            <a:r>
              <a:rPr lang="en-GB" dirty="0" smtClean="0"/>
              <a:t>q1, </a:t>
            </a:r>
            <a:r>
              <a:rPr lang="en-GB" dirty="0"/>
              <a:t>a, a) = </a:t>
            </a:r>
            <a:r>
              <a:rPr lang="en-GB" dirty="0" smtClean="0"/>
              <a:t>(q2, </a:t>
            </a:r>
            <a:r>
              <a:rPr lang="el-GR" dirty="0"/>
              <a:t>ε</a:t>
            </a:r>
            <a:r>
              <a:rPr lang="en-GB" dirty="0" smtClean="0"/>
              <a:t>) [</a:t>
            </a:r>
            <a:r>
              <a:rPr lang="en-US" dirty="0">
                <a:solidFill>
                  <a:srgbClr val="FF0000"/>
                </a:solidFill>
              </a:rPr>
              <a:t>PDA </a:t>
            </a:r>
            <a:r>
              <a:rPr lang="en-US" dirty="0" smtClean="0">
                <a:solidFill>
                  <a:srgbClr val="FF0000"/>
                </a:solidFill>
              </a:rPr>
              <a:t>erases </a:t>
            </a:r>
            <a:r>
              <a:rPr lang="en-US" dirty="0">
                <a:solidFill>
                  <a:srgbClr val="FF0000"/>
                </a:solidFill>
              </a:rPr>
              <a:t>the topmost symbol if it coincides </a:t>
            </a:r>
            <a:r>
              <a:rPr lang="en-US" dirty="0" smtClean="0">
                <a:solidFill>
                  <a:srgbClr val="FF0000"/>
                </a:solidFill>
              </a:rPr>
              <a:t>with </a:t>
            </a:r>
            <a:r>
              <a:rPr lang="en-GB" dirty="0" smtClean="0">
                <a:solidFill>
                  <a:srgbClr val="FF0000"/>
                </a:solidFill>
              </a:rPr>
              <a:t>the </a:t>
            </a:r>
            <a:r>
              <a:rPr lang="en-GB" dirty="0">
                <a:solidFill>
                  <a:srgbClr val="FF0000"/>
                </a:solidFill>
              </a:rPr>
              <a:t>current input </a:t>
            </a:r>
            <a:r>
              <a:rPr lang="en-GB" dirty="0" smtClean="0">
                <a:solidFill>
                  <a:srgbClr val="FF0000"/>
                </a:solidFill>
              </a:rPr>
              <a:t>symbol and changes the </a:t>
            </a:r>
            <a:r>
              <a:rPr lang="en-GB" smtClean="0">
                <a:solidFill>
                  <a:srgbClr val="FF0000"/>
                </a:solidFill>
              </a:rPr>
              <a:t>state from q1 to q2</a:t>
            </a:r>
            <a:r>
              <a:rPr lang="en-GB" smtClean="0"/>
              <a:t>]</a:t>
            </a:r>
            <a:endParaRPr lang="en-GB" dirty="0"/>
          </a:p>
          <a:p>
            <a:r>
              <a:rPr lang="el-GR" dirty="0" smtClean="0"/>
              <a:t>δ(</a:t>
            </a:r>
            <a:r>
              <a:rPr lang="en-GB" dirty="0" smtClean="0"/>
              <a:t>q2, </a:t>
            </a:r>
            <a:r>
              <a:rPr lang="en-GB" dirty="0"/>
              <a:t>a</a:t>
            </a:r>
            <a:r>
              <a:rPr lang="el-GR" dirty="0" smtClean="0"/>
              <a:t>, </a:t>
            </a:r>
            <a:r>
              <a:rPr lang="en-GB" dirty="0" smtClean="0"/>
              <a:t>a) </a:t>
            </a:r>
            <a:r>
              <a:rPr lang="en-GB" dirty="0"/>
              <a:t>= {(</a:t>
            </a:r>
            <a:r>
              <a:rPr lang="en-GB" dirty="0" smtClean="0"/>
              <a:t>q2 ,</a:t>
            </a:r>
            <a:r>
              <a:rPr lang="el-GR" dirty="0"/>
              <a:t> ε</a:t>
            </a:r>
            <a:r>
              <a:rPr lang="en-GB" dirty="0" smtClean="0"/>
              <a:t> )}</a:t>
            </a:r>
          </a:p>
          <a:p>
            <a:r>
              <a:rPr lang="el-GR" dirty="0"/>
              <a:t>δ(</a:t>
            </a:r>
            <a:r>
              <a:rPr lang="en-GB" dirty="0"/>
              <a:t>q2, </a:t>
            </a:r>
            <a:r>
              <a:rPr lang="el-GR" dirty="0"/>
              <a:t>ε</a:t>
            </a:r>
            <a:r>
              <a:rPr lang="el-GR" dirty="0" smtClean="0"/>
              <a:t>, </a:t>
            </a:r>
            <a:r>
              <a:rPr lang="en-GB" dirty="0" smtClean="0"/>
              <a:t>Z0)=(</a:t>
            </a:r>
            <a:r>
              <a:rPr lang="en-GB" dirty="0" err="1" smtClean="0"/>
              <a:t>qf</a:t>
            </a:r>
            <a:r>
              <a:rPr lang="en-GB" dirty="0" smtClean="0"/>
              <a:t>, Z0)[</a:t>
            </a:r>
            <a:r>
              <a:rPr lang="en-US" dirty="0" smtClean="0">
                <a:solidFill>
                  <a:srgbClr val="FF0000"/>
                </a:solidFill>
              </a:rPr>
              <a:t>PDA reaches </a:t>
            </a:r>
            <a:r>
              <a:rPr lang="en-US" dirty="0">
                <a:solidFill>
                  <a:srgbClr val="FF0000"/>
                </a:solidFill>
              </a:rPr>
              <a:t>the final state </a:t>
            </a:r>
            <a:r>
              <a:rPr lang="en-GB" dirty="0" err="1">
                <a:solidFill>
                  <a:srgbClr val="FF0000"/>
                </a:solidFill>
              </a:rPr>
              <a:t>qf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only when the input string </a:t>
            </a:r>
            <a:r>
              <a:rPr lang="en-US" dirty="0" smtClean="0">
                <a:solidFill>
                  <a:srgbClr val="FF0000"/>
                </a:solidFill>
              </a:rPr>
              <a:t>is exhausted </a:t>
            </a:r>
            <a:r>
              <a:rPr lang="en-US" dirty="0">
                <a:solidFill>
                  <a:srgbClr val="FF0000"/>
                </a:solidFill>
              </a:rPr>
              <a:t>and then the PDS has only </a:t>
            </a:r>
            <a:r>
              <a:rPr lang="en-GB" dirty="0" smtClean="0">
                <a:solidFill>
                  <a:srgbClr val="FF0000"/>
                </a:solidFill>
              </a:rPr>
              <a:t>Z0</a:t>
            </a:r>
            <a:r>
              <a:rPr lang="en-GB" dirty="0" smtClean="0"/>
              <a:t>]</a:t>
            </a:r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099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Acceptance by PDA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common way to define the language of a PDA is by final state</a:t>
            </a:r>
          </a:p>
          <a:p>
            <a:r>
              <a:rPr lang="en-US" dirty="0" smtClean="0"/>
              <a:t>If P is a PDA, then L(P) is the set of strings w such that (q 0, w, Z 0) ⊦* (f, ε, </a:t>
            </a:r>
            <a:r>
              <a:rPr lang="el-GR" dirty="0" smtClean="0"/>
              <a:t>α</a:t>
            </a:r>
            <a:r>
              <a:rPr lang="en-US" dirty="0" smtClean="0"/>
              <a:t>) for final state f and any </a:t>
            </a:r>
            <a:r>
              <a:rPr lang="el-GR" dirty="0" smtClean="0"/>
              <a:t>α</a:t>
            </a:r>
            <a:r>
              <a:rPr lang="en-US" dirty="0" smtClean="0"/>
              <a:t>.</a:t>
            </a:r>
          </a:p>
          <a:p>
            <a:r>
              <a:rPr lang="en-US" dirty="0" smtClean="0"/>
              <a:t>Another language defined by the same PDA is by empty stack. </a:t>
            </a:r>
          </a:p>
          <a:p>
            <a:r>
              <a:rPr lang="en-US" dirty="0" smtClean="0"/>
              <a:t>If P is a PDA, then N(P) is the set of strings w such that (q 0, w, Z 0) ⊦* (q, ε, ε) for any state q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2555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Deterministic PDAs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be deterministic, there must be at most one choice of move for any state q, input symbol a, and stack symbol X.</a:t>
            </a:r>
          </a:p>
          <a:p>
            <a:r>
              <a:rPr lang="en-US" dirty="0" smtClean="0"/>
              <a:t>In addition, there must not be a choice between using input ε or real input. </a:t>
            </a:r>
          </a:p>
          <a:p>
            <a:r>
              <a:rPr lang="en-US" dirty="0" smtClean="0"/>
              <a:t>Formally, δ(q, a, X) and δ(q, ε, X) cannot both be nonempty</a:t>
            </a:r>
          </a:p>
          <a:p>
            <a:r>
              <a:rPr lang="en-US" dirty="0" smtClean="0"/>
              <a:t>Examples of PDA which we have seen till now is deterministic PDA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189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Design a PDA for the following for acceptance by final state</a:t>
            </a:r>
          </a:p>
          <a:p>
            <a:r>
              <a:rPr lang="en-GB" b="1" dirty="0" smtClean="0"/>
              <a:t>L={0</a:t>
            </a:r>
            <a:r>
              <a:rPr lang="en-GB" b="1" baseline="30000" dirty="0" smtClean="0"/>
              <a:t>n</a:t>
            </a:r>
            <a:r>
              <a:rPr lang="en-GB" b="1" dirty="0" smtClean="0"/>
              <a:t>1</a:t>
            </a:r>
            <a:r>
              <a:rPr lang="en-GB" b="1" baseline="30000" dirty="0" smtClean="0"/>
              <a:t>m</a:t>
            </a:r>
            <a:r>
              <a:rPr lang="en-GB" b="1" dirty="0" smtClean="0"/>
              <a:t>0</a:t>
            </a:r>
            <a:r>
              <a:rPr lang="en-GB" b="1" baseline="30000" dirty="0" smtClean="0"/>
              <a:t>n</a:t>
            </a:r>
            <a:r>
              <a:rPr lang="en-GB" b="1" dirty="0" smtClean="0"/>
              <a:t>|m,n&gt;=1}</a:t>
            </a:r>
          </a:p>
          <a:p>
            <a:r>
              <a:rPr lang="en-GB" b="1" dirty="0" smtClean="0"/>
              <a:t>L={a</a:t>
            </a:r>
            <a:r>
              <a:rPr lang="en-GB" b="1" baseline="30000" dirty="0" smtClean="0"/>
              <a:t>n</a:t>
            </a:r>
            <a:r>
              <a:rPr lang="en-GB" b="1" dirty="0" smtClean="0"/>
              <a:t>b</a:t>
            </a:r>
            <a:r>
              <a:rPr lang="en-GB" b="1" baseline="30000" dirty="0" smtClean="0"/>
              <a:t>2n</a:t>
            </a:r>
            <a:r>
              <a:rPr lang="en-GB" b="1" dirty="0" smtClean="0"/>
              <a:t>|n&gt;=1}</a:t>
            </a:r>
          </a:p>
          <a:p>
            <a:r>
              <a:rPr lang="en-GB" b="1" dirty="0" smtClean="0"/>
              <a:t>L={a</a:t>
            </a:r>
            <a:r>
              <a:rPr lang="en-GB" b="1" baseline="30000" dirty="0" smtClean="0"/>
              <a:t>n</a:t>
            </a:r>
            <a:r>
              <a:rPr lang="en-GB" b="1" dirty="0" smtClean="0"/>
              <a:t> b </a:t>
            </a:r>
            <a:r>
              <a:rPr lang="en-GB" b="1" baseline="30000" dirty="0" smtClean="0"/>
              <a:t>m</a:t>
            </a:r>
            <a:r>
              <a:rPr lang="en-GB" b="1" dirty="0" smtClean="0"/>
              <a:t> c </a:t>
            </a:r>
            <a:r>
              <a:rPr lang="en-GB" b="1" baseline="30000" dirty="0" smtClean="0"/>
              <a:t>n</a:t>
            </a:r>
            <a:r>
              <a:rPr lang="en-GB" b="1" dirty="0" smtClean="0"/>
              <a:t>| </a:t>
            </a:r>
            <a:r>
              <a:rPr lang="en-GB" b="1" dirty="0" err="1" smtClean="0"/>
              <a:t>m,n</a:t>
            </a:r>
            <a:r>
              <a:rPr lang="en-GB" b="1" dirty="0" smtClean="0"/>
              <a:t>&gt;=1}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774151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Acceptance of PDA by Null store or Empty stack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2781300"/>
            <a:ext cx="904875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50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</a:t>
            </a:r>
            <a:br>
              <a:rPr lang="en-GB" dirty="0" smtClean="0"/>
            </a:b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3076" y="1440349"/>
            <a:ext cx="9895790" cy="50655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872" y="1027906"/>
            <a:ext cx="710565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91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Validity Testing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Do validity testing for the string</a:t>
            </a:r>
          </a:p>
          <a:p>
            <a:r>
              <a:rPr lang="en-GB" dirty="0" err="1" smtClean="0"/>
              <a:t>aabaa</a:t>
            </a:r>
            <a:endParaRPr lang="en-GB" dirty="0" smtClean="0"/>
          </a:p>
          <a:p>
            <a:r>
              <a:rPr lang="en-GB" dirty="0" err="1" smtClean="0"/>
              <a:t>abbaa</a:t>
            </a:r>
            <a:endParaRPr lang="en-GB" dirty="0" smtClean="0"/>
          </a:p>
          <a:p>
            <a:r>
              <a:rPr lang="en-GB" dirty="0" err="1" smtClean="0"/>
              <a:t>aaabaa</a:t>
            </a:r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2119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Design a PDA for the following for acceptance by Null store or empty stack.</a:t>
            </a:r>
          </a:p>
          <a:p>
            <a:r>
              <a:rPr lang="en-GB" dirty="0" smtClean="0"/>
              <a:t>L={0</a:t>
            </a:r>
            <a:r>
              <a:rPr lang="en-GB" baseline="30000" dirty="0" smtClean="0"/>
              <a:t>n</a:t>
            </a:r>
            <a:r>
              <a:rPr lang="en-GB" dirty="0" smtClean="0"/>
              <a:t>1</a:t>
            </a:r>
            <a:r>
              <a:rPr lang="en-GB" baseline="30000" dirty="0" smtClean="0"/>
              <a:t>m</a:t>
            </a:r>
            <a:r>
              <a:rPr lang="en-GB" dirty="0" smtClean="0"/>
              <a:t>0</a:t>
            </a:r>
            <a:r>
              <a:rPr lang="en-GB" baseline="30000" dirty="0" smtClean="0"/>
              <a:t>n</a:t>
            </a:r>
            <a:r>
              <a:rPr lang="en-GB" dirty="0" smtClean="0"/>
              <a:t>|m,n&gt;=1}</a:t>
            </a:r>
          </a:p>
          <a:p>
            <a:r>
              <a:rPr lang="en-GB" dirty="0" smtClean="0"/>
              <a:t>L={a</a:t>
            </a:r>
            <a:r>
              <a:rPr lang="en-GB" baseline="30000" dirty="0" smtClean="0"/>
              <a:t>n</a:t>
            </a:r>
            <a:r>
              <a:rPr lang="en-GB" dirty="0" smtClean="0"/>
              <a:t>b</a:t>
            </a:r>
            <a:r>
              <a:rPr lang="en-GB" baseline="30000" dirty="0" smtClean="0"/>
              <a:t>2n</a:t>
            </a:r>
            <a:r>
              <a:rPr lang="en-GB" dirty="0" smtClean="0"/>
              <a:t>|n&gt;=1}</a:t>
            </a:r>
          </a:p>
          <a:p>
            <a:r>
              <a:rPr lang="en-GB" dirty="0" smtClean="0"/>
              <a:t>L={a</a:t>
            </a:r>
            <a:r>
              <a:rPr lang="en-GB" baseline="30000" dirty="0" smtClean="0"/>
              <a:t>n</a:t>
            </a:r>
            <a:r>
              <a:rPr lang="en-GB" dirty="0" smtClean="0"/>
              <a:t> b </a:t>
            </a:r>
            <a:r>
              <a:rPr lang="en-GB" baseline="30000" dirty="0" smtClean="0"/>
              <a:t>m</a:t>
            </a:r>
            <a:r>
              <a:rPr lang="en-GB" dirty="0" smtClean="0"/>
              <a:t> c </a:t>
            </a:r>
            <a:r>
              <a:rPr lang="en-GB" baseline="30000" dirty="0" smtClean="0"/>
              <a:t>n</a:t>
            </a:r>
            <a:r>
              <a:rPr lang="en-GB" dirty="0" smtClean="0"/>
              <a:t>| </a:t>
            </a:r>
            <a:r>
              <a:rPr lang="en-GB" dirty="0" err="1" smtClean="0"/>
              <a:t>m,n</a:t>
            </a:r>
            <a:r>
              <a:rPr lang="en-GB" dirty="0" smtClean="0"/>
              <a:t>&gt;=1}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262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PDA &amp; Context Free Grammar(CFG)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058" y="2217683"/>
            <a:ext cx="11414623" cy="372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410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93" y="599281"/>
            <a:ext cx="8963025" cy="857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055" y="2196662"/>
            <a:ext cx="8305800" cy="375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5675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226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Validity Testing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20183"/>
            <a:ext cx="3600450" cy="390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87" y="1933575"/>
            <a:ext cx="10048875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8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2 CFG to PDA Conversion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8843"/>
            <a:ext cx="8934450" cy="7334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98" y="2747071"/>
            <a:ext cx="8310890" cy="38624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6240600" y="4800600"/>
              <a:ext cx="221400" cy="2822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31240" y="4791240"/>
                <a:ext cx="240120" cy="30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6079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Validity Testing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r>
              <a:rPr lang="en-GB" dirty="0" smtClean="0"/>
              <a:t>Test whether the string “</a:t>
            </a:r>
            <a:r>
              <a:rPr lang="en-GB" dirty="0" err="1" smtClean="0"/>
              <a:t>abab</a:t>
            </a:r>
            <a:r>
              <a:rPr lang="en-GB" dirty="0" smtClean="0"/>
              <a:t>” is in N(A) </a:t>
            </a:r>
          </a:p>
          <a:p>
            <a:r>
              <a:rPr lang="en-GB" dirty="0" smtClean="0"/>
              <a:t>(</a:t>
            </a:r>
            <a:r>
              <a:rPr lang="en-GB" dirty="0" err="1" smtClean="0"/>
              <a:t>q,abab,S</a:t>
            </a:r>
            <a:r>
              <a:rPr lang="en-GB" dirty="0" smtClean="0"/>
              <a:t>) |--(</a:t>
            </a:r>
            <a:r>
              <a:rPr lang="en-GB" dirty="0" err="1" smtClean="0"/>
              <a:t>q,abab</a:t>
            </a:r>
            <a:r>
              <a:rPr lang="en-GB" dirty="0" smtClean="0"/>
              <a:t>, </a:t>
            </a:r>
            <a:r>
              <a:rPr lang="en-GB" dirty="0" err="1" smtClean="0"/>
              <a:t>aSb</a:t>
            </a:r>
            <a:r>
              <a:rPr lang="en-GB" dirty="0" smtClean="0"/>
              <a:t>)  |--(q, </a:t>
            </a:r>
            <a:r>
              <a:rPr lang="en-GB" dirty="0" err="1" smtClean="0"/>
              <a:t>bab</a:t>
            </a:r>
            <a:r>
              <a:rPr lang="en-GB" dirty="0" smtClean="0"/>
              <a:t>, Sb)  |-- (</a:t>
            </a:r>
            <a:r>
              <a:rPr lang="en-GB" dirty="0" err="1" smtClean="0"/>
              <a:t>q,bab</a:t>
            </a:r>
            <a:r>
              <a:rPr lang="en-GB" dirty="0" smtClean="0"/>
              <a:t>, Ab) |---(q, </a:t>
            </a:r>
            <a:r>
              <a:rPr lang="en-GB" dirty="0" err="1" smtClean="0"/>
              <a:t>bab,bSab</a:t>
            </a:r>
            <a:r>
              <a:rPr lang="en-GB" dirty="0" smtClean="0"/>
              <a:t>)</a:t>
            </a:r>
            <a:endParaRPr lang="en-GB" dirty="0"/>
          </a:p>
          <a:p>
            <a:r>
              <a:rPr lang="en-GB" dirty="0" smtClean="0"/>
              <a:t>|--(</a:t>
            </a:r>
            <a:r>
              <a:rPr lang="en-GB" dirty="0" err="1" smtClean="0"/>
              <a:t>q,ab,Sab</a:t>
            </a:r>
            <a:r>
              <a:rPr lang="en-GB" dirty="0" smtClean="0"/>
              <a:t>)  |--(q, ab,     ab)  |---(q, </a:t>
            </a:r>
            <a:r>
              <a:rPr lang="en-GB" dirty="0" err="1" smtClean="0"/>
              <a:t>ab,ab</a:t>
            </a:r>
            <a:r>
              <a:rPr lang="en-GB" dirty="0" smtClean="0"/>
              <a:t>)  |--(</a:t>
            </a:r>
            <a:r>
              <a:rPr lang="en-GB" dirty="0" err="1" smtClean="0"/>
              <a:t>q,b</a:t>
            </a:r>
            <a:r>
              <a:rPr lang="en-GB" dirty="0" smtClean="0"/>
              <a:t>, b) |---( q,     ,      )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564440" y="3040560"/>
              <a:ext cx="221400" cy="1832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55080" y="3031200"/>
                <a:ext cx="2401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0050840" y="3017520"/>
              <a:ext cx="739440" cy="5032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41480" y="3008160"/>
                <a:ext cx="758160" cy="52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612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HW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131" y="1112619"/>
            <a:ext cx="10787378" cy="24083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6440" y="4371247"/>
            <a:ext cx="109412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GB" sz="2000" dirty="0" smtClean="0"/>
              <a:t>G=({S,A, B}),{</a:t>
            </a:r>
            <a:r>
              <a:rPr lang="en-GB" sz="2000" dirty="0" err="1" smtClean="0"/>
              <a:t>a,b</a:t>
            </a:r>
            <a:r>
              <a:rPr lang="en-GB" sz="2000" dirty="0" smtClean="0"/>
              <a:t>},P,{S})    b)</a:t>
            </a:r>
            <a:r>
              <a:rPr lang="en-GB" sz="2000" dirty="0"/>
              <a:t> G=({</a:t>
            </a:r>
            <a:r>
              <a:rPr lang="en-GB" sz="2000" dirty="0" smtClean="0"/>
              <a:t>S,X,Y,Z}),{</a:t>
            </a:r>
            <a:r>
              <a:rPr lang="en-GB" sz="2000" dirty="0" err="1" smtClean="0"/>
              <a:t>a,b</a:t>
            </a:r>
            <a:r>
              <a:rPr lang="en-GB" sz="2000" dirty="0" smtClean="0"/>
              <a:t>, c},</a:t>
            </a:r>
            <a:r>
              <a:rPr lang="en-GB" sz="2000" dirty="0"/>
              <a:t>P,{S</a:t>
            </a:r>
            <a:r>
              <a:rPr lang="en-GB" sz="2000" dirty="0" smtClean="0"/>
              <a:t>}) C)   G=({S, A, B}, {</a:t>
            </a:r>
            <a:r>
              <a:rPr lang="en-GB" sz="2000" dirty="0" err="1" smtClean="0"/>
              <a:t>a,b,c,d</a:t>
            </a:r>
            <a:r>
              <a:rPr lang="en-GB" sz="2000" dirty="0" smtClean="0"/>
              <a:t>},P S)         </a:t>
            </a:r>
          </a:p>
          <a:p>
            <a:r>
              <a:rPr lang="en-GB" sz="2000" dirty="0" smtClean="0"/>
              <a:t>S-&gt; A | B                                    S-&gt; X | Y                                         S-&gt; A </a:t>
            </a:r>
          </a:p>
          <a:p>
            <a:r>
              <a:rPr lang="en-GB" sz="2000" dirty="0" smtClean="0"/>
              <a:t>A-&gt; ab | </a:t>
            </a:r>
            <a:r>
              <a:rPr lang="en-GB" sz="2000" dirty="0" err="1" smtClean="0"/>
              <a:t>aAb</a:t>
            </a:r>
            <a:r>
              <a:rPr lang="en-GB" sz="2000" dirty="0" smtClean="0"/>
              <a:t>                              Y-&gt; ac | </a:t>
            </a:r>
            <a:r>
              <a:rPr lang="en-GB" sz="2000" dirty="0" err="1" smtClean="0"/>
              <a:t>aYc</a:t>
            </a:r>
            <a:r>
              <a:rPr lang="en-GB" sz="2000" dirty="0" smtClean="0"/>
              <a:t>                                    A-&gt;</a:t>
            </a:r>
            <a:r>
              <a:rPr lang="en-GB" sz="2000" dirty="0" err="1" smtClean="0"/>
              <a:t>aAd</a:t>
            </a:r>
            <a:r>
              <a:rPr lang="en-GB" sz="2000" dirty="0" smtClean="0"/>
              <a:t>   | </a:t>
            </a:r>
            <a:r>
              <a:rPr lang="en-GB" sz="2000" dirty="0" err="1" smtClean="0"/>
              <a:t>aBd</a:t>
            </a:r>
            <a:endParaRPr lang="en-GB" sz="2000" dirty="0" smtClean="0"/>
          </a:p>
          <a:p>
            <a:r>
              <a:rPr lang="en-GB" sz="2000" dirty="0" smtClean="0"/>
              <a:t>B-&gt; </a:t>
            </a:r>
            <a:r>
              <a:rPr lang="en-GB" sz="2000" dirty="0" err="1" smtClean="0"/>
              <a:t>abb</a:t>
            </a:r>
            <a:r>
              <a:rPr lang="en-GB" sz="2000" dirty="0" smtClean="0"/>
              <a:t> | </a:t>
            </a:r>
            <a:r>
              <a:rPr lang="en-GB" sz="2000" dirty="0" err="1" smtClean="0"/>
              <a:t>aBbb</a:t>
            </a:r>
            <a:r>
              <a:rPr lang="en-GB" sz="2000" dirty="0" smtClean="0"/>
              <a:t>                           X-&gt;</a:t>
            </a:r>
            <a:r>
              <a:rPr lang="en-GB" sz="2000" dirty="0" err="1" smtClean="0"/>
              <a:t>aXa</a:t>
            </a:r>
            <a:r>
              <a:rPr lang="en-GB" sz="2000" dirty="0" smtClean="0"/>
              <a:t>  | </a:t>
            </a:r>
            <a:r>
              <a:rPr lang="en-GB" sz="2000" dirty="0" err="1" smtClean="0"/>
              <a:t>aZa</a:t>
            </a:r>
            <a:r>
              <a:rPr lang="en-GB" sz="2000" dirty="0" smtClean="0"/>
              <a:t>                                B-&gt;</a:t>
            </a:r>
            <a:r>
              <a:rPr lang="en-GB" sz="2000" dirty="0" err="1" smtClean="0"/>
              <a:t>bc</a:t>
            </a:r>
            <a:r>
              <a:rPr lang="en-GB" sz="2000" dirty="0" smtClean="0"/>
              <a:t> | </a:t>
            </a:r>
            <a:r>
              <a:rPr lang="en-GB" sz="2000" dirty="0" err="1" smtClean="0"/>
              <a:t>bBc</a:t>
            </a:r>
            <a:endParaRPr lang="en-GB" sz="2000" dirty="0" smtClean="0"/>
          </a:p>
          <a:p>
            <a:r>
              <a:rPr lang="en-GB" sz="2000" dirty="0" smtClean="0"/>
              <a:t>                                                     Z-&gt;b | </a:t>
            </a:r>
            <a:r>
              <a:rPr lang="en-GB" sz="2000" dirty="0" err="1" smtClean="0"/>
              <a:t>bZ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550834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138" y="0"/>
            <a:ext cx="10208172" cy="43366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Construction </a:t>
            </a:r>
            <a:r>
              <a:rPr lang="en-GB" smtClean="0"/>
              <a:t>of CFG from PDA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140" y="1135118"/>
            <a:ext cx="10700441" cy="57228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96" y="433660"/>
            <a:ext cx="1009863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29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</a:t>
            </a:r>
            <a:r>
              <a:rPr lang="en-GB" dirty="0" smtClean="0"/>
              <a:t>xample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816" y="1334814"/>
            <a:ext cx="10968983" cy="512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5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3661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Solution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925" y="894803"/>
            <a:ext cx="6600825" cy="771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53" y="1993680"/>
            <a:ext cx="10389859" cy="448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49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9"/>
    </mc:Choice>
    <mc:Fallback xmlns="">
      <p:transition spd="slow" advTm="1199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2847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Solution Conti..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032" y="1072055"/>
            <a:ext cx="11128768" cy="555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531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96"/>
    </mc:Choice>
    <mc:Fallback xmlns="">
      <p:transition spd="slow" advTm="1596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 Conti..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784" y="2270234"/>
            <a:ext cx="9642634" cy="327922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21764" y="5944341"/>
            <a:ext cx="31053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Arial" panose="020B0604020202020204" pitchFamily="34" charset="0"/>
              </a:rPr>
              <a:t>P</a:t>
            </a:r>
            <a:r>
              <a:rPr lang="en-US" sz="800" i="1" dirty="0">
                <a:latin typeface="Arial" panose="020B0604020202020204" pitchFamily="34" charset="0"/>
              </a:rPr>
              <a:t>1</a:t>
            </a:r>
            <a:r>
              <a:rPr lang="en-US" i="1" dirty="0">
                <a:latin typeface="Arial" panose="020B0604020202020204" pitchFamily="34" charset="0"/>
              </a:rPr>
              <a:t>-P</a:t>
            </a:r>
            <a:r>
              <a:rPr lang="en-US" sz="800" i="1" dirty="0">
                <a:latin typeface="Arial" panose="020B0604020202020204" pitchFamily="34" charset="0"/>
              </a:rPr>
              <a:t>16 </a:t>
            </a:r>
            <a:r>
              <a:rPr lang="en-US" dirty="0">
                <a:latin typeface="Times New Roman" panose="02020603050405020304" pitchFamily="18" charset="0"/>
              </a:rPr>
              <a:t>give the productions in </a:t>
            </a:r>
            <a:r>
              <a:rPr lang="en-US" i="1" dirty="0">
                <a:latin typeface="Arial" panose="020B0604020202020204" pitchFamily="34" charset="0"/>
              </a:rPr>
              <a:t>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753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</a:t>
            </a:r>
            <a:br>
              <a:rPr lang="en-GB" dirty="0" smtClean="0"/>
            </a:b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0524" y="2060020"/>
            <a:ext cx="9937832" cy="450423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47738"/>
            <a:ext cx="8753475" cy="7429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69863" y="1690688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4217379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2847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Solution Conti…</a:t>
            </a:r>
            <a:endParaRPr lang="en-GB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10455"/>
            <a:ext cx="10229193" cy="587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252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6420"/>
          </a:xfrm>
        </p:spPr>
        <p:txBody>
          <a:bodyPr/>
          <a:lstStyle/>
          <a:p>
            <a:r>
              <a:rPr lang="en-GB" dirty="0"/>
              <a:t>Solution Conti…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7062" y="1114425"/>
            <a:ext cx="9300816" cy="543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8482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 Conti…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903" y="2564523"/>
            <a:ext cx="10513348" cy="264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64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1344</TotalTime>
  <Words>2467</Words>
  <Application>Microsoft Office PowerPoint</Application>
  <PresentationFormat>Widescreen</PresentationFormat>
  <Paragraphs>184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Calibri Light</vt:lpstr>
      <vt:lpstr>Times New Roman</vt:lpstr>
      <vt:lpstr>Office Theme</vt:lpstr>
      <vt:lpstr>UNIT-IV</vt:lpstr>
      <vt:lpstr>PDA</vt:lpstr>
      <vt:lpstr>Model of a Pushdown automaton</vt:lpstr>
      <vt:lpstr>PDA</vt:lpstr>
      <vt:lpstr>PDA</vt:lpstr>
      <vt:lpstr>The Transition Function</vt:lpstr>
      <vt:lpstr>Actions of the PDA</vt:lpstr>
      <vt:lpstr>Example: PDA</vt:lpstr>
      <vt:lpstr>Example: PDA – (2)</vt:lpstr>
      <vt:lpstr>Example: PDA – (3)</vt:lpstr>
      <vt:lpstr>Instantaneous Descriptions</vt:lpstr>
      <vt:lpstr>The “Goes-To”(Move ) Relation</vt:lpstr>
      <vt:lpstr>Example: Goes-To </vt:lpstr>
      <vt:lpstr>Answer</vt:lpstr>
      <vt:lpstr>Example PDA</vt:lpstr>
      <vt:lpstr>Example PDA</vt:lpstr>
      <vt:lpstr>Example PDA</vt:lpstr>
      <vt:lpstr>Example PDA Conti…</vt:lpstr>
      <vt:lpstr>Validity Testing</vt:lpstr>
      <vt:lpstr>Validity Testing</vt:lpstr>
      <vt:lpstr>Acceptance by Final state example </vt:lpstr>
      <vt:lpstr>Example PDA Conti…</vt:lpstr>
      <vt:lpstr>Acceptance by PDA</vt:lpstr>
      <vt:lpstr>Deterministic PDAs</vt:lpstr>
      <vt:lpstr>HW</vt:lpstr>
      <vt:lpstr>Acceptance of PDA by Null store or Empty stack</vt:lpstr>
      <vt:lpstr>Example </vt:lpstr>
      <vt:lpstr>Validity Testing</vt:lpstr>
      <vt:lpstr>HW</vt:lpstr>
      <vt:lpstr>PDA &amp; Context Free Grammar(CFG)</vt:lpstr>
      <vt:lpstr>PowerPoint Presentation</vt:lpstr>
      <vt:lpstr>Validity Testing</vt:lpstr>
      <vt:lpstr>Example 2 CFG to PDA Conversion</vt:lpstr>
      <vt:lpstr>Validity Testing</vt:lpstr>
      <vt:lpstr>HW</vt:lpstr>
      <vt:lpstr>Construction of CFG from PDA</vt:lpstr>
      <vt:lpstr>Example</vt:lpstr>
      <vt:lpstr>Solution</vt:lpstr>
      <vt:lpstr>Solution Conti..</vt:lpstr>
      <vt:lpstr>Solution Conti..</vt:lpstr>
      <vt:lpstr>Example </vt:lpstr>
      <vt:lpstr>Solution Conti…</vt:lpstr>
      <vt:lpstr>Solution Conti…</vt:lpstr>
      <vt:lpstr>Solution Conti…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Shweta</dc:creator>
  <cp:lastModifiedBy>Shweta</cp:lastModifiedBy>
  <cp:revision>60</cp:revision>
  <dcterms:created xsi:type="dcterms:W3CDTF">2020-03-21T08:39:46Z</dcterms:created>
  <dcterms:modified xsi:type="dcterms:W3CDTF">2022-03-23T11:23:58Z</dcterms:modified>
</cp:coreProperties>
</file>